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4" r:id="rId1"/>
  </p:sldMasterIdLst>
  <p:sldIdLst>
    <p:sldId id="256" r:id="rId2"/>
    <p:sldId id="257" r:id="rId3"/>
    <p:sldId id="265" r:id="rId4"/>
    <p:sldId id="274" r:id="rId5"/>
    <p:sldId id="266" r:id="rId6"/>
    <p:sldId id="268" r:id="rId7"/>
    <p:sldId id="269" r:id="rId8"/>
    <p:sldId id="270" r:id="rId9"/>
    <p:sldId id="271" r:id="rId10"/>
    <p:sldId id="272" r:id="rId11"/>
    <p:sldId id="273" r:id="rId12"/>
    <p:sldId id="264" r:id="rId13"/>
    <p:sldId id="267" r:id="rId14"/>
    <p:sldId id="258" r:id="rId15"/>
    <p:sldId id="263" r:id="rId16"/>
    <p:sldId id="261" r:id="rId17"/>
    <p:sldId id="259" r:id="rId18"/>
    <p:sldId id="262" r:id="rId19"/>
    <p:sldId id="26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5" d="100"/>
          <a:sy n="55" d="100"/>
        </p:scale>
        <p:origin x="60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693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6769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60573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87444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2514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4279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8103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588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1398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5157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7256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96069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3921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3749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74219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17027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47935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11/21/2025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78336257"/>
      </p:ext>
    </p:extLst>
  </p:cSld>
  <p:clrMap bg1="dk1" tx1="lt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92BD8D-7535-2877-1DF3-E37C8766A415}"/>
              </a:ext>
            </a:extLst>
          </p:cNvPr>
          <p:cNvPicPr>
            <a:picLocks noChangeAspect="1"/>
          </p:cNvPicPr>
          <p:nvPr/>
        </p:nvPicPr>
        <p:blipFill>
          <a:blip r:embed="rId2">
            <a:lum bright="70000" contrast="-70000"/>
          </a:blip>
          <a:stretch>
            <a:fillRect/>
          </a:stretch>
        </p:blipFill>
        <p:spPr>
          <a:xfrm>
            <a:off x="214313" y="244278"/>
            <a:ext cx="11748190" cy="5240543"/>
          </a:xfrm>
          <a:prstGeom prst="rect">
            <a:avLst/>
          </a:prstGeom>
          <a:ln>
            <a:noFill/>
          </a:ln>
          <a:effectLst>
            <a:softEdge rad="112500"/>
          </a:effectLst>
        </p:spPr>
      </p:pic>
      <p:sp>
        <p:nvSpPr>
          <p:cNvPr id="6" name="TextBox 5">
            <a:extLst>
              <a:ext uri="{FF2B5EF4-FFF2-40B4-BE49-F238E27FC236}">
                <a16:creationId xmlns:a16="http://schemas.microsoft.com/office/drawing/2014/main" id="{2645539A-B005-3FED-0B2A-57E5228B4950}"/>
              </a:ext>
            </a:extLst>
          </p:cNvPr>
          <p:cNvSpPr txBox="1"/>
          <p:nvPr/>
        </p:nvSpPr>
        <p:spPr>
          <a:xfrm>
            <a:off x="1690239" y="1373179"/>
            <a:ext cx="9368286" cy="2213106"/>
          </a:xfrm>
          <a:prstGeom prst="rect">
            <a:avLst/>
          </a:prstGeom>
          <a:noFill/>
        </p:spPr>
        <p:txBody>
          <a:bodyPr wrap="square" rtlCol="0">
            <a:spAutoFit/>
          </a:bodyPr>
          <a:lstStyle/>
          <a:p>
            <a:pPr algn="ctr">
              <a:lnSpc>
                <a:spcPct val="150000"/>
              </a:lnSpc>
            </a:pPr>
            <a:r>
              <a:rPr lang="en-US" sz="3200" b="1" dirty="0">
                <a:solidFill>
                  <a:schemeClr val="bg1"/>
                </a:solidFill>
              </a:rPr>
              <a:t>Title: Welcome to the Store Annual Report 2025</a:t>
            </a:r>
          </a:p>
          <a:p>
            <a:pPr algn="ctr">
              <a:lnSpc>
                <a:spcPct val="150000"/>
              </a:lnSpc>
            </a:pPr>
            <a:r>
              <a:rPr lang="en-US" sz="3200" b="1" dirty="0">
                <a:solidFill>
                  <a:schemeClr val="bg1"/>
                </a:solidFill>
              </a:rPr>
              <a:t>Subtitle: Based on E-commerce Order Data Analysis</a:t>
            </a:r>
          </a:p>
        </p:txBody>
      </p:sp>
      <p:sp>
        <p:nvSpPr>
          <p:cNvPr id="11" name="TextBox 10">
            <a:extLst>
              <a:ext uri="{FF2B5EF4-FFF2-40B4-BE49-F238E27FC236}">
                <a16:creationId xmlns:a16="http://schemas.microsoft.com/office/drawing/2014/main" id="{0891D9DB-2AC7-6AD5-A4DE-B382804192AD}"/>
              </a:ext>
            </a:extLst>
          </p:cNvPr>
          <p:cNvSpPr txBox="1"/>
          <p:nvPr/>
        </p:nvSpPr>
        <p:spPr>
          <a:xfrm>
            <a:off x="8272630" y="5651040"/>
            <a:ext cx="3689873" cy="369332"/>
          </a:xfrm>
          <a:prstGeom prst="rect">
            <a:avLst/>
          </a:prstGeom>
          <a:noFill/>
        </p:spPr>
        <p:txBody>
          <a:bodyPr wrap="square" rtlCol="0">
            <a:spAutoFit/>
          </a:bodyPr>
          <a:lstStyle/>
          <a:p>
            <a:r>
              <a:rPr lang="en-US" dirty="0"/>
              <a:t>Presented By:- Manjeet Gupta</a:t>
            </a:r>
            <a:endParaRPr lang="en-IN" dirty="0"/>
          </a:p>
        </p:txBody>
      </p:sp>
    </p:spTree>
    <p:extLst>
      <p:ext uri="{BB962C8B-B14F-4D97-AF65-F5344CB8AC3E}">
        <p14:creationId xmlns:p14="http://schemas.microsoft.com/office/powerpoint/2010/main" val="1848406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BF2B2-81F3-9416-889E-8BE9107ECA98}"/>
              </a:ext>
            </a:extLst>
          </p:cNvPr>
          <p:cNvSpPr>
            <a:spLocks noGrp="1"/>
          </p:cNvSpPr>
          <p:nvPr>
            <p:ph type="title"/>
          </p:nvPr>
        </p:nvSpPr>
        <p:spPr>
          <a:xfrm>
            <a:off x="685801" y="30957"/>
            <a:ext cx="10131425" cy="738187"/>
          </a:xfrm>
        </p:spPr>
        <p:txBody>
          <a:bodyPr/>
          <a:lstStyle/>
          <a:p>
            <a:pPr algn="ctr"/>
            <a:r>
              <a:rPr lang="en-US" b="1" dirty="0">
                <a:solidFill>
                  <a:schemeClr val="accent2"/>
                </a:solidFill>
              </a:rPr>
              <a:t>STORE DATA TABLE</a:t>
            </a:r>
            <a:endParaRPr lang="en-IN" b="1" dirty="0">
              <a:solidFill>
                <a:schemeClr val="accent2"/>
              </a:solidFill>
            </a:endParaRPr>
          </a:p>
        </p:txBody>
      </p:sp>
      <p:sp>
        <p:nvSpPr>
          <p:cNvPr id="6" name="TextBox 5">
            <a:extLst>
              <a:ext uri="{FF2B5EF4-FFF2-40B4-BE49-F238E27FC236}">
                <a16:creationId xmlns:a16="http://schemas.microsoft.com/office/drawing/2014/main" id="{A2744EE9-1180-329F-5EF1-B94110E61CDD}"/>
              </a:ext>
            </a:extLst>
          </p:cNvPr>
          <p:cNvSpPr txBox="1"/>
          <p:nvPr/>
        </p:nvSpPr>
        <p:spPr>
          <a:xfrm>
            <a:off x="538162" y="5488691"/>
            <a:ext cx="10706100" cy="369332"/>
          </a:xfrm>
          <a:prstGeom prst="rect">
            <a:avLst/>
          </a:prstGeom>
          <a:solidFill>
            <a:schemeClr val="bg1"/>
          </a:solidFill>
        </p:spPr>
        <p:txBody>
          <a:bodyPr wrap="square" rtlCol="0">
            <a:spAutoFit/>
          </a:bodyPr>
          <a:lstStyle/>
          <a:p>
            <a:endParaRPr lang="en-US" dirty="0">
              <a:solidFill>
                <a:schemeClr val="accent2"/>
              </a:solidFill>
            </a:endParaRPr>
          </a:p>
        </p:txBody>
      </p:sp>
      <p:pic>
        <p:nvPicPr>
          <p:cNvPr id="11" name="Picture 10">
            <a:extLst>
              <a:ext uri="{FF2B5EF4-FFF2-40B4-BE49-F238E27FC236}">
                <a16:creationId xmlns:a16="http://schemas.microsoft.com/office/drawing/2014/main" id="{C414AEF4-9B6E-C629-6EDD-03E8A720730F}"/>
              </a:ext>
            </a:extLst>
          </p:cNvPr>
          <p:cNvPicPr>
            <a:picLocks noChangeAspect="1"/>
          </p:cNvPicPr>
          <p:nvPr/>
        </p:nvPicPr>
        <p:blipFill>
          <a:blip r:embed="rId2"/>
          <a:stretch>
            <a:fillRect/>
          </a:stretch>
        </p:blipFill>
        <p:spPr>
          <a:xfrm>
            <a:off x="538162" y="769144"/>
            <a:ext cx="10706100" cy="2486024"/>
          </a:xfrm>
          <a:prstGeom prst="rect">
            <a:avLst/>
          </a:prstGeom>
        </p:spPr>
      </p:pic>
      <p:pic>
        <p:nvPicPr>
          <p:cNvPr id="15" name="Picture 14">
            <a:extLst>
              <a:ext uri="{FF2B5EF4-FFF2-40B4-BE49-F238E27FC236}">
                <a16:creationId xmlns:a16="http://schemas.microsoft.com/office/drawing/2014/main" id="{38898F89-4AC3-2C61-B347-A76D5B7A97D3}"/>
              </a:ext>
            </a:extLst>
          </p:cNvPr>
          <p:cNvPicPr>
            <a:picLocks noChangeAspect="1"/>
          </p:cNvPicPr>
          <p:nvPr/>
        </p:nvPicPr>
        <p:blipFill>
          <a:blip r:embed="rId3"/>
          <a:stretch>
            <a:fillRect/>
          </a:stretch>
        </p:blipFill>
        <p:spPr>
          <a:xfrm>
            <a:off x="538162" y="3429000"/>
            <a:ext cx="10501312" cy="2486024"/>
          </a:xfrm>
          <a:prstGeom prst="rect">
            <a:avLst/>
          </a:prstGeom>
        </p:spPr>
      </p:pic>
    </p:spTree>
    <p:extLst>
      <p:ext uri="{BB962C8B-B14F-4D97-AF65-F5344CB8AC3E}">
        <p14:creationId xmlns:p14="http://schemas.microsoft.com/office/powerpoint/2010/main" val="903013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32274-6759-6471-B7F0-BB3B439B3B0D}"/>
              </a:ext>
            </a:extLst>
          </p:cNvPr>
          <p:cNvSpPr>
            <a:spLocks noGrp="1"/>
          </p:cNvSpPr>
          <p:nvPr>
            <p:ph type="title"/>
          </p:nvPr>
        </p:nvSpPr>
        <p:spPr>
          <a:xfrm>
            <a:off x="646111" y="452718"/>
            <a:ext cx="10183814" cy="876020"/>
          </a:xfrm>
          <a:solidFill>
            <a:schemeClr val="accent4">
              <a:lumMod val="75000"/>
            </a:schemeClr>
          </a:solidFill>
          <a:ln>
            <a:solidFill>
              <a:schemeClr val="bg2">
                <a:lumMod val="60000"/>
                <a:lumOff val="40000"/>
              </a:schemeClr>
            </a:solidFill>
          </a:ln>
        </p:spPr>
        <p:txBody>
          <a:bodyPr/>
          <a:lstStyle/>
          <a:p>
            <a:pPr marL="571500" indent="-571500" algn="ctr">
              <a:buFont typeface="Wingdings" panose="05000000000000000000" pitchFamily="2" charset="2"/>
              <a:buChar char="Ø"/>
            </a:pPr>
            <a:r>
              <a:rPr lang="en-US" b="1" dirty="0"/>
              <a:t>Overview</a:t>
            </a:r>
            <a:br>
              <a:rPr lang="en-US" b="1" dirty="0"/>
            </a:br>
            <a:endParaRPr lang="en-IN" dirty="0"/>
          </a:p>
        </p:txBody>
      </p:sp>
      <p:sp>
        <p:nvSpPr>
          <p:cNvPr id="3" name="Content Placeholder 2">
            <a:extLst>
              <a:ext uri="{FF2B5EF4-FFF2-40B4-BE49-F238E27FC236}">
                <a16:creationId xmlns:a16="http://schemas.microsoft.com/office/drawing/2014/main" id="{2B6893D6-9D15-5C23-BAA5-04F0FDE82DB7}"/>
              </a:ext>
            </a:extLst>
          </p:cNvPr>
          <p:cNvSpPr>
            <a:spLocks noGrp="1"/>
          </p:cNvSpPr>
          <p:nvPr>
            <p:ph idx="1"/>
          </p:nvPr>
        </p:nvSpPr>
        <p:spPr>
          <a:xfrm>
            <a:off x="646111" y="1538568"/>
            <a:ext cx="10183814" cy="4747932"/>
          </a:xfrm>
          <a:solidFill>
            <a:schemeClr val="accent4">
              <a:lumMod val="75000"/>
            </a:schemeClr>
          </a:solidFill>
          <a:ln>
            <a:solidFill>
              <a:schemeClr val="bg2">
                <a:lumMod val="60000"/>
                <a:lumOff val="40000"/>
              </a:schemeClr>
            </a:solidFill>
          </a:ln>
        </p:spPr>
        <p:txBody>
          <a:bodyPr>
            <a:normAutofit fontScale="92500" lnSpcReduction="20000"/>
          </a:bodyPr>
          <a:lstStyle/>
          <a:p>
            <a:pPr marL="0" indent="0">
              <a:buNone/>
            </a:pPr>
            <a:r>
              <a:rPr lang="en-US" sz="3300" b="1" dirty="0"/>
              <a:t>Content:</a:t>
            </a:r>
            <a:endParaRPr lang="en-US" sz="3300" dirty="0"/>
          </a:p>
          <a:p>
            <a:r>
              <a:rPr lang="en-US" dirty="0"/>
              <a:t>Monthly Orders vs Sales</a:t>
            </a:r>
          </a:p>
          <a:p>
            <a:r>
              <a:rPr lang="en-US" dirty="0"/>
              <a:t>Customer Gender Distribution</a:t>
            </a:r>
          </a:p>
          <a:p>
            <a:r>
              <a:rPr lang="en-US" dirty="0"/>
              <a:t>Order Status Performance</a:t>
            </a:r>
          </a:p>
          <a:p>
            <a:r>
              <a:rPr lang="en-US" dirty="0"/>
              <a:t>Age vs Gender Orders</a:t>
            </a:r>
          </a:p>
          <a:p>
            <a:r>
              <a:rPr lang="en-US" dirty="0"/>
              <a:t>Top 10 States Sales</a:t>
            </a:r>
          </a:p>
          <a:p>
            <a:r>
              <a:rPr lang="en-US" dirty="0"/>
              <a:t>Channel-wise Orders</a:t>
            </a:r>
          </a:p>
          <a:p>
            <a:r>
              <a:rPr lang="en-US" dirty="0"/>
              <a:t>State-wise Sales Map</a:t>
            </a:r>
          </a:p>
          <a:p>
            <a:pPr marL="0" indent="0">
              <a:buNone/>
            </a:pPr>
            <a:r>
              <a:rPr lang="en-US" sz="2200" b="1" dirty="0"/>
              <a:t>What to Speak:</a:t>
            </a:r>
            <a:endParaRPr lang="en-US" sz="2200" dirty="0"/>
          </a:p>
          <a:p>
            <a:r>
              <a:rPr lang="en-US" dirty="0"/>
              <a:t>"This presentation summarizes our performance across months, genders, channels, states, and order categories."</a:t>
            </a:r>
          </a:p>
          <a:p>
            <a:r>
              <a:rPr lang="en-US" dirty="0"/>
              <a:t>"Each section highlights a specific part of our business to understand where we performed strongest."</a:t>
            </a:r>
          </a:p>
          <a:p>
            <a:endParaRPr lang="en-IN" dirty="0"/>
          </a:p>
        </p:txBody>
      </p:sp>
    </p:spTree>
    <p:extLst>
      <p:ext uri="{BB962C8B-B14F-4D97-AF65-F5344CB8AC3E}">
        <p14:creationId xmlns:p14="http://schemas.microsoft.com/office/powerpoint/2010/main" val="322265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C2A24-FA25-82D7-8E47-F4C3EDFC0A2B}"/>
              </a:ext>
            </a:extLst>
          </p:cNvPr>
          <p:cNvSpPr>
            <a:spLocks noGrp="1"/>
          </p:cNvSpPr>
          <p:nvPr>
            <p:ph type="title"/>
          </p:nvPr>
        </p:nvSpPr>
        <p:spPr>
          <a:xfrm>
            <a:off x="646111" y="452718"/>
            <a:ext cx="9404723" cy="1077144"/>
          </a:xfrm>
          <a:solidFill>
            <a:schemeClr val="bg2">
              <a:lumMod val="50000"/>
            </a:schemeClr>
          </a:solidFill>
          <a:ln>
            <a:solidFill>
              <a:schemeClr val="bg2">
                <a:lumMod val="60000"/>
                <a:lumOff val="40000"/>
              </a:schemeClr>
            </a:solidFill>
          </a:ln>
        </p:spPr>
        <p:txBody>
          <a:bodyPr/>
          <a:lstStyle/>
          <a:p>
            <a:r>
              <a:rPr lang="en-IN" dirty="0"/>
              <a:t>Summary – Store Annual Report</a:t>
            </a:r>
          </a:p>
        </p:txBody>
      </p:sp>
      <p:sp>
        <p:nvSpPr>
          <p:cNvPr id="3" name="Content Placeholder 2">
            <a:extLst>
              <a:ext uri="{FF2B5EF4-FFF2-40B4-BE49-F238E27FC236}">
                <a16:creationId xmlns:a16="http://schemas.microsoft.com/office/drawing/2014/main" id="{571AE4A9-BA36-F0E4-FE3A-BDEA22ECFC64}"/>
              </a:ext>
            </a:extLst>
          </p:cNvPr>
          <p:cNvSpPr>
            <a:spLocks noGrp="1"/>
          </p:cNvSpPr>
          <p:nvPr>
            <p:ph idx="1"/>
          </p:nvPr>
        </p:nvSpPr>
        <p:spPr>
          <a:xfrm>
            <a:off x="645130" y="2052919"/>
            <a:ext cx="10415593" cy="3099374"/>
          </a:xfrm>
          <a:solidFill>
            <a:schemeClr val="bg2">
              <a:lumMod val="50000"/>
            </a:schemeClr>
          </a:solidFill>
          <a:ln>
            <a:solidFill>
              <a:schemeClr val="bg2">
                <a:lumMod val="60000"/>
                <a:lumOff val="40000"/>
              </a:schemeClr>
            </a:solidFill>
          </a:ln>
        </p:spPr>
        <p:txBody>
          <a:bodyPr/>
          <a:lstStyle/>
          <a:p>
            <a:pPr marL="0" indent="0" algn="just">
              <a:buNone/>
            </a:pPr>
            <a:r>
              <a:rPr lang="en-US" dirty="0"/>
              <a:t>The Store Annual Report 2025 highlights overall business performance across sales, customer behavior, and regional insights. Sales peaked between February and May, while women contributed the majority of purchases at 64%. Order operations were highly efficient, with 92% successful deliveries and minimal returns or cancellations. Senior customers formed the largest buying group, followed by adults. Maharashtra, Karnataka, and Uttar Pradesh emerged as the top-performing states. Amazon remained the strongest sales channel, followed by Myntra and Flipkart. Overall, the report shows strong customer engagement, high delivery success, and clear trends for future strategic planning.</a:t>
            </a:r>
          </a:p>
          <a:p>
            <a:pPr marL="0" indent="0" algn="just">
              <a:buNone/>
            </a:pPr>
            <a:endParaRPr lang="en-IN" dirty="0"/>
          </a:p>
        </p:txBody>
      </p:sp>
    </p:spTree>
    <p:extLst>
      <p:ext uri="{BB962C8B-B14F-4D97-AF65-F5344CB8AC3E}">
        <p14:creationId xmlns:p14="http://schemas.microsoft.com/office/powerpoint/2010/main" val="3879752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A834C-D2EA-B606-1566-C3424639504D}"/>
              </a:ext>
            </a:extLst>
          </p:cNvPr>
          <p:cNvSpPr>
            <a:spLocks noGrp="1"/>
          </p:cNvSpPr>
          <p:nvPr>
            <p:ph type="title"/>
          </p:nvPr>
        </p:nvSpPr>
        <p:spPr>
          <a:xfrm>
            <a:off x="646111" y="452718"/>
            <a:ext cx="9404723" cy="1061757"/>
          </a:xfrm>
          <a:solidFill>
            <a:schemeClr val="bg2">
              <a:lumMod val="50000"/>
            </a:schemeClr>
          </a:solidFill>
          <a:ln>
            <a:solidFill>
              <a:schemeClr val="bg2">
                <a:lumMod val="60000"/>
                <a:lumOff val="40000"/>
              </a:schemeClr>
            </a:solidFill>
          </a:ln>
        </p:spPr>
        <p:txBody>
          <a:bodyPr/>
          <a:lstStyle/>
          <a:p>
            <a:r>
              <a:rPr lang="en-US" b="1" dirty="0"/>
              <a:t>Orders vs Sales (Line + Bar Chart)</a:t>
            </a:r>
            <a:endParaRPr lang="en-IN" dirty="0"/>
          </a:p>
        </p:txBody>
      </p:sp>
      <p:sp>
        <p:nvSpPr>
          <p:cNvPr id="3" name="Content Placeholder 2">
            <a:extLst>
              <a:ext uri="{FF2B5EF4-FFF2-40B4-BE49-F238E27FC236}">
                <a16:creationId xmlns:a16="http://schemas.microsoft.com/office/drawing/2014/main" id="{C636D62B-95EA-5684-E278-178291936431}"/>
              </a:ext>
            </a:extLst>
          </p:cNvPr>
          <p:cNvSpPr>
            <a:spLocks noGrp="1"/>
          </p:cNvSpPr>
          <p:nvPr>
            <p:ph idx="1"/>
          </p:nvPr>
        </p:nvSpPr>
        <p:spPr>
          <a:solidFill>
            <a:schemeClr val="bg2">
              <a:lumMod val="50000"/>
            </a:schemeClr>
          </a:solidFill>
          <a:ln>
            <a:solidFill>
              <a:schemeClr val="bg2">
                <a:lumMod val="60000"/>
                <a:lumOff val="40000"/>
              </a:schemeClr>
            </a:solidFill>
          </a:ln>
        </p:spPr>
        <p:txBody>
          <a:bodyPr>
            <a:normAutofit fontScale="85000" lnSpcReduction="10000"/>
          </a:bodyPr>
          <a:lstStyle/>
          <a:p>
            <a:pPr marL="0" indent="0">
              <a:buNone/>
            </a:pPr>
            <a:r>
              <a:rPr lang="en-US" b="1" dirty="0"/>
              <a:t>Content:</a:t>
            </a:r>
            <a:endParaRPr lang="en-US" dirty="0"/>
          </a:p>
          <a:p>
            <a:r>
              <a:rPr lang="en-US" dirty="0"/>
              <a:t>Highest sales between </a:t>
            </a:r>
            <a:r>
              <a:rPr lang="en-US" b="1" dirty="0"/>
              <a:t>February–May</a:t>
            </a:r>
            <a:endParaRPr lang="en-US" dirty="0"/>
          </a:p>
          <a:p>
            <a:r>
              <a:rPr lang="en-US" dirty="0"/>
              <a:t>Gradual decline after </a:t>
            </a:r>
            <a:r>
              <a:rPr lang="en-US" b="1" dirty="0"/>
              <a:t>June</a:t>
            </a:r>
            <a:endParaRPr lang="en-US" dirty="0"/>
          </a:p>
          <a:p>
            <a:r>
              <a:rPr lang="en-US" dirty="0"/>
              <a:t>December shows slight recovery</a:t>
            </a:r>
          </a:p>
          <a:p>
            <a:r>
              <a:rPr lang="en-US" dirty="0"/>
              <a:t>Orders and sales follow a similar pattern</a:t>
            </a:r>
          </a:p>
          <a:p>
            <a:pPr marL="0" indent="0">
              <a:buNone/>
            </a:pPr>
            <a:endParaRPr lang="en-US" dirty="0"/>
          </a:p>
          <a:p>
            <a:pPr marL="0" indent="0">
              <a:buNone/>
            </a:pPr>
            <a:r>
              <a:rPr lang="en-US" b="1" dirty="0"/>
              <a:t>What to Speak:</a:t>
            </a:r>
            <a:endParaRPr lang="en-US" dirty="0"/>
          </a:p>
          <a:p>
            <a:r>
              <a:rPr lang="en-US" dirty="0"/>
              <a:t>"This chart shows our monthly performance. We see that February to May was our strongest period with peak sales."</a:t>
            </a:r>
          </a:p>
          <a:p>
            <a:r>
              <a:rPr lang="en-US" dirty="0"/>
              <a:t>"From June onward, there was a slow decline, possibly due to seasonal factors."</a:t>
            </a:r>
          </a:p>
          <a:p>
            <a:r>
              <a:rPr lang="en-US" dirty="0"/>
              <a:t>"December shows a small recovery, indicating the impact of festivity sales."</a:t>
            </a:r>
          </a:p>
          <a:p>
            <a:endParaRPr lang="en-IN" dirty="0"/>
          </a:p>
        </p:txBody>
      </p:sp>
    </p:spTree>
    <p:extLst>
      <p:ext uri="{BB962C8B-B14F-4D97-AF65-F5344CB8AC3E}">
        <p14:creationId xmlns:p14="http://schemas.microsoft.com/office/powerpoint/2010/main" val="2961456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377D-A92F-C3E1-678E-9B4969D0D5DF}"/>
              </a:ext>
            </a:extLst>
          </p:cNvPr>
          <p:cNvSpPr>
            <a:spLocks noGrp="1"/>
          </p:cNvSpPr>
          <p:nvPr>
            <p:ph type="title"/>
          </p:nvPr>
        </p:nvSpPr>
        <p:spPr>
          <a:solidFill>
            <a:schemeClr val="bg2">
              <a:lumMod val="50000"/>
            </a:schemeClr>
          </a:solidFill>
        </p:spPr>
        <p:txBody>
          <a:bodyPr/>
          <a:lstStyle/>
          <a:p>
            <a:r>
              <a:rPr lang="en-US" b="1" dirty="0"/>
              <a:t>Men vs Women (Pie Chart)</a:t>
            </a:r>
            <a:br>
              <a:rPr lang="en-US" b="1" dirty="0"/>
            </a:br>
            <a:endParaRPr lang="en-IN" dirty="0"/>
          </a:p>
        </p:txBody>
      </p:sp>
      <p:sp>
        <p:nvSpPr>
          <p:cNvPr id="3" name="Content Placeholder 2">
            <a:extLst>
              <a:ext uri="{FF2B5EF4-FFF2-40B4-BE49-F238E27FC236}">
                <a16:creationId xmlns:a16="http://schemas.microsoft.com/office/drawing/2014/main" id="{F8461FC3-922D-F74B-2C53-50E553C65941}"/>
              </a:ext>
            </a:extLst>
          </p:cNvPr>
          <p:cNvSpPr>
            <a:spLocks noGrp="1"/>
          </p:cNvSpPr>
          <p:nvPr>
            <p:ph idx="1"/>
          </p:nvPr>
        </p:nvSpPr>
        <p:spPr>
          <a:solidFill>
            <a:schemeClr val="bg2">
              <a:lumMod val="50000"/>
            </a:schemeClr>
          </a:solidFill>
          <a:ln>
            <a:solidFill>
              <a:schemeClr val="bg2">
                <a:lumMod val="60000"/>
                <a:lumOff val="40000"/>
              </a:schemeClr>
            </a:solidFill>
          </a:ln>
        </p:spPr>
        <p:txBody>
          <a:bodyPr/>
          <a:lstStyle/>
          <a:p>
            <a:pPr marL="0" indent="0">
              <a:buNone/>
            </a:pPr>
            <a:r>
              <a:rPr lang="en-US" b="1" dirty="0"/>
              <a:t>Content:</a:t>
            </a:r>
            <a:endParaRPr lang="en-US" dirty="0"/>
          </a:p>
          <a:p>
            <a:r>
              <a:rPr lang="en-US" dirty="0"/>
              <a:t>Women: </a:t>
            </a:r>
            <a:r>
              <a:rPr lang="en-US" b="1" dirty="0"/>
              <a:t>64%</a:t>
            </a:r>
            <a:endParaRPr lang="en-US" dirty="0"/>
          </a:p>
          <a:p>
            <a:r>
              <a:rPr lang="en-US" dirty="0"/>
              <a:t>Men: </a:t>
            </a:r>
            <a:r>
              <a:rPr lang="en-US" b="1" dirty="0"/>
              <a:t>36%</a:t>
            </a:r>
            <a:endParaRPr lang="en-US" dirty="0"/>
          </a:p>
          <a:p>
            <a:r>
              <a:rPr lang="en-US" dirty="0"/>
              <a:t>Women drive majority of purchases</a:t>
            </a:r>
          </a:p>
          <a:p>
            <a:pPr marL="0" indent="0">
              <a:buNone/>
            </a:pPr>
            <a:endParaRPr lang="en-US" dirty="0"/>
          </a:p>
          <a:p>
            <a:pPr marL="0" indent="0">
              <a:buNone/>
            </a:pPr>
            <a:r>
              <a:rPr lang="en-US" b="1" dirty="0"/>
              <a:t>What to Speak:</a:t>
            </a:r>
            <a:endParaRPr lang="en-US" dirty="0"/>
          </a:p>
          <a:p>
            <a:r>
              <a:rPr lang="en-US" dirty="0"/>
              <a:t>"Customer purchases are heavily dominated by women, contributing to 64% of total orders."</a:t>
            </a:r>
          </a:p>
          <a:p>
            <a:r>
              <a:rPr lang="en-US" dirty="0"/>
              <a:t>"This indicates a strong female user base and suggests opportunities to target female-centric campaigns."</a:t>
            </a:r>
          </a:p>
          <a:p>
            <a:endParaRPr lang="en-IN" dirty="0"/>
          </a:p>
        </p:txBody>
      </p:sp>
    </p:spTree>
    <p:extLst>
      <p:ext uri="{BB962C8B-B14F-4D97-AF65-F5344CB8AC3E}">
        <p14:creationId xmlns:p14="http://schemas.microsoft.com/office/powerpoint/2010/main" val="69612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F018D-A442-964C-7531-159864DF5533}"/>
              </a:ext>
            </a:extLst>
          </p:cNvPr>
          <p:cNvSpPr>
            <a:spLocks noGrp="1"/>
          </p:cNvSpPr>
          <p:nvPr>
            <p:ph type="title"/>
          </p:nvPr>
        </p:nvSpPr>
        <p:spPr>
          <a:solidFill>
            <a:schemeClr val="bg2">
              <a:lumMod val="50000"/>
            </a:schemeClr>
          </a:solidFill>
          <a:ln>
            <a:solidFill>
              <a:schemeClr val="bg2">
                <a:lumMod val="60000"/>
                <a:lumOff val="40000"/>
              </a:schemeClr>
            </a:solidFill>
          </a:ln>
        </p:spPr>
        <p:txBody>
          <a:bodyPr/>
          <a:lstStyle/>
          <a:p>
            <a:r>
              <a:rPr lang="en-US" b="1" dirty="0"/>
              <a:t>Order Status (Pie Chart)</a:t>
            </a:r>
            <a:br>
              <a:rPr lang="en-US" b="1" dirty="0"/>
            </a:br>
            <a:endParaRPr lang="en-IN" dirty="0"/>
          </a:p>
        </p:txBody>
      </p:sp>
      <p:sp>
        <p:nvSpPr>
          <p:cNvPr id="3" name="Content Placeholder 2">
            <a:extLst>
              <a:ext uri="{FF2B5EF4-FFF2-40B4-BE49-F238E27FC236}">
                <a16:creationId xmlns:a16="http://schemas.microsoft.com/office/drawing/2014/main" id="{8F4B786C-0684-FE1E-F1B5-AFC6EAC53620}"/>
              </a:ext>
            </a:extLst>
          </p:cNvPr>
          <p:cNvSpPr>
            <a:spLocks noGrp="1"/>
          </p:cNvSpPr>
          <p:nvPr>
            <p:ph idx="1"/>
          </p:nvPr>
        </p:nvSpPr>
        <p:spPr>
          <a:solidFill>
            <a:schemeClr val="bg2">
              <a:lumMod val="50000"/>
            </a:schemeClr>
          </a:solidFill>
          <a:ln>
            <a:solidFill>
              <a:schemeClr val="bg2">
                <a:lumMod val="60000"/>
                <a:lumOff val="40000"/>
              </a:schemeClr>
            </a:solidFill>
          </a:ln>
        </p:spPr>
        <p:txBody>
          <a:bodyPr>
            <a:normAutofit fontScale="92500"/>
          </a:bodyPr>
          <a:lstStyle/>
          <a:p>
            <a:pPr marL="0" indent="0">
              <a:buNone/>
            </a:pPr>
            <a:r>
              <a:rPr lang="en-US" b="1" dirty="0"/>
              <a:t>Content:</a:t>
            </a:r>
            <a:endParaRPr lang="en-US" dirty="0"/>
          </a:p>
          <a:p>
            <a:r>
              <a:rPr lang="en-US" dirty="0"/>
              <a:t>Delivered: </a:t>
            </a:r>
            <a:r>
              <a:rPr lang="en-US" b="1" dirty="0"/>
              <a:t>92%</a:t>
            </a:r>
            <a:endParaRPr lang="en-US" dirty="0"/>
          </a:p>
          <a:p>
            <a:r>
              <a:rPr lang="en-US" dirty="0"/>
              <a:t>Returned: </a:t>
            </a:r>
            <a:r>
              <a:rPr lang="en-US" b="1" dirty="0"/>
              <a:t>3%</a:t>
            </a:r>
            <a:endParaRPr lang="en-US" dirty="0"/>
          </a:p>
          <a:p>
            <a:r>
              <a:rPr lang="en-US" dirty="0"/>
              <a:t>Cancelled: </a:t>
            </a:r>
            <a:r>
              <a:rPr lang="en-US" b="1" dirty="0"/>
              <a:t>3%</a:t>
            </a:r>
            <a:endParaRPr lang="en-US" dirty="0"/>
          </a:p>
          <a:p>
            <a:r>
              <a:rPr lang="en-US" dirty="0"/>
              <a:t>Refunded: </a:t>
            </a:r>
            <a:r>
              <a:rPr lang="en-US" b="1" dirty="0"/>
              <a:t>2%</a:t>
            </a:r>
          </a:p>
          <a:p>
            <a:pPr marL="0" indent="0">
              <a:buNone/>
            </a:pPr>
            <a:endParaRPr lang="en-US" dirty="0"/>
          </a:p>
          <a:p>
            <a:pPr marL="0" indent="0">
              <a:buNone/>
            </a:pPr>
            <a:r>
              <a:rPr lang="en-US" b="1" dirty="0"/>
              <a:t>What to Speak:</a:t>
            </a:r>
            <a:endParaRPr lang="en-US" dirty="0"/>
          </a:p>
          <a:p>
            <a:r>
              <a:rPr lang="en-US" dirty="0"/>
              <a:t>"Order quality is excellent with 92% successful deliveries."</a:t>
            </a:r>
          </a:p>
          <a:p>
            <a:r>
              <a:rPr lang="en-US" dirty="0"/>
              <a:t>"Only 3% cancellations and 3% returns show operational efficiency."</a:t>
            </a:r>
          </a:p>
          <a:p>
            <a:r>
              <a:rPr lang="en-US" dirty="0"/>
              <a:t>"Refund percentage is minimal at 2%, reflecting customer satisfaction."</a:t>
            </a:r>
          </a:p>
          <a:p>
            <a:endParaRPr lang="en-IN" dirty="0"/>
          </a:p>
        </p:txBody>
      </p:sp>
    </p:spTree>
    <p:extLst>
      <p:ext uri="{BB962C8B-B14F-4D97-AF65-F5344CB8AC3E}">
        <p14:creationId xmlns:p14="http://schemas.microsoft.com/office/powerpoint/2010/main" val="2765270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480F4-F69E-0269-2FBB-30E879CEA68E}"/>
              </a:ext>
            </a:extLst>
          </p:cNvPr>
          <p:cNvSpPr>
            <a:spLocks noGrp="1"/>
          </p:cNvSpPr>
          <p:nvPr>
            <p:ph type="title"/>
          </p:nvPr>
        </p:nvSpPr>
        <p:spPr>
          <a:xfrm>
            <a:off x="875201" y="422721"/>
            <a:ext cx="9404723" cy="971636"/>
          </a:xfrm>
          <a:solidFill>
            <a:schemeClr val="bg2">
              <a:lumMod val="50000"/>
            </a:schemeClr>
          </a:solidFill>
          <a:ln>
            <a:solidFill>
              <a:schemeClr val="bg2">
                <a:lumMod val="60000"/>
                <a:lumOff val="40000"/>
              </a:schemeClr>
            </a:solidFill>
          </a:ln>
        </p:spPr>
        <p:txBody>
          <a:bodyPr/>
          <a:lstStyle/>
          <a:p>
            <a:pPr marL="0" indent="0"/>
            <a:r>
              <a:rPr lang="en-US" b="1" dirty="0"/>
              <a:t>Age vs Gender (Bar Chart</a:t>
            </a:r>
            <a:br>
              <a:rPr lang="en-US" dirty="0"/>
            </a:br>
            <a:endParaRPr lang="en-IN" dirty="0"/>
          </a:p>
        </p:txBody>
      </p:sp>
      <p:sp>
        <p:nvSpPr>
          <p:cNvPr id="3" name="Content Placeholder 2">
            <a:extLst>
              <a:ext uri="{FF2B5EF4-FFF2-40B4-BE49-F238E27FC236}">
                <a16:creationId xmlns:a16="http://schemas.microsoft.com/office/drawing/2014/main" id="{96BF5D04-963C-E0D7-C102-61F1B492DAA5}"/>
              </a:ext>
            </a:extLst>
          </p:cNvPr>
          <p:cNvSpPr>
            <a:spLocks noGrp="1"/>
          </p:cNvSpPr>
          <p:nvPr>
            <p:ph idx="1"/>
          </p:nvPr>
        </p:nvSpPr>
        <p:spPr>
          <a:xfrm>
            <a:off x="1104293" y="1753980"/>
            <a:ext cx="8946541" cy="4195481"/>
          </a:xfrm>
          <a:solidFill>
            <a:schemeClr val="bg2">
              <a:lumMod val="50000"/>
            </a:schemeClr>
          </a:solidFill>
          <a:ln>
            <a:solidFill>
              <a:schemeClr val="bg2">
                <a:lumMod val="60000"/>
                <a:lumOff val="40000"/>
              </a:schemeClr>
            </a:solidFill>
          </a:ln>
        </p:spPr>
        <p:txBody>
          <a:bodyPr>
            <a:normAutofit fontScale="92500"/>
          </a:bodyPr>
          <a:lstStyle/>
          <a:p>
            <a:pPr marL="0" indent="0">
              <a:buNone/>
            </a:pPr>
            <a:r>
              <a:rPr lang="en-US" b="1" dirty="0"/>
              <a:t>Content:</a:t>
            </a:r>
            <a:endParaRPr lang="en-US" dirty="0"/>
          </a:p>
          <a:p>
            <a:r>
              <a:rPr lang="en-US" dirty="0"/>
              <a:t>Teenagers: 0%</a:t>
            </a:r>
          </a:p>
          <a:p>
            <a:r>
              <a:rPr lang="en-US" dirty="0"/>
              <a:t>Adults: 27.52%</a:t>
            </a:r>
          </a:p>
          <a:p>
            <a:r>
              <a:rPr lang="en-US" dirty="0"/>
              <a:t>Seniors: 41.91%</a:t>
            </a:r>
          </a:p>
          <a:p>
            <a:r>
              <a:rPr lang="en-US" dirty="0"/>
              <a:t>Women lead across age groups</a:t>
            </a:r>
          </a:p>
          <a:p>
            <a:pPr marL="0" indent="0">
              <a:buNone/>
            </a:pPr>
            <a:endParaRPr lang="en-US" dirty="0"/>
          </a:p>
          <a:p>
            <a:pPr marL="0" indent="0">
              <a:buNone/>
            </a:pPr>
            <a:r>
              <a:rPr lang="en-US" b="1" dirty="0"/>
              <a:t>What to Speak:</a:t>
            </a:r>
            <a:endParaRPr lang="en-US" dirty="0"/>
          </a:p>
          <a:p>
            <a:r>
              <a:rPr lang="en-US" dirty="0"/>
              <a:t>"The majority of buyers come from the senior age group at nearly 42%."</a:t>
            </a:r>
          </a:p>
          <a:p>
            <a:r>
              <a:rPr lang="en-US" dirty="0"/>
              <a:t>"Adults contribute 27.5%, and teenagers are almost negligible."</a:t>
            </a:r>
          </a:p>
          <a:p>
            <a:r>
              <a:rPr lang="en-US" dirty="0"/>
              <a:t>"This helps us understand where our main purchasing power lies."</a:t>
            </a:r>
          </a:p>
          <a:p>
            <a:endParaRPr lang="en-IN" dirty="0"/>
          </a:p>
        </p:txBody>
      </p:sp>
    </p:spTree>
    <p:extLst>
      <p:ext uri="{BB962C8B-B14F-4D97-AF65-F5344CB8AC3E}">
        <p14:creationId xmlns:p14="http://schemas.microsoft.com/office/powerpoint/2010/main" val="4073313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4B49A-ADB9-54B8-D6B7-BE7EAB923DFC}"/>
              </a:ext>
            </a:extLst>
          </p:cNvPr>
          <p:cNvSpPr>
            <a:spLocks noGrp="1"/>
          </p:cNvSpPr>
          <p:nvPr>
            <p:ph type="title"/>
          </p:nvPr>
        </p:nvSpPr>
        <p:spPr>
          <a:xfrm>
            <a:off x="646111" y="452718"/>
            <a:ext cx="9404723" cy="989220"/>
          </a:xfrm>
          <a:solidFill>
            <a:schemeClr val="bg2">
              <a:lumMod val="50000"/>
            </a:schemeClr>
          </a:solidFill>
          <a:ln>
            <a:solidFill>
              <a:schemeClr val="bg2">
                <a:lumMod val="60000"/>
                <a:lumOff val="40000"/>
              </a:schemeClr>
            </a:solidFill>
          </a:ln>
        </p:spPr>
        <p:txBody>
          <a:bodyPr/>
          <a:lstStyle/>
          <a:p>
            <a:r>
              <a:rPr lang="en-US" b="1" dirty="0"/>
              <a:t>Top 10 States (Horizontal Bar Chart)</a:t>
            </a:r>
            <a:endParaRPr lang="en-IN" dirty="0"/>
          </a:p>
        </p:txBody>
      </p:sp>
      <p:sp>
        <p:nvSpPr>
          <p:cNvPr id="3" name="Content Placeholder 2">
            <a:extLst>
              <a:ext uri="{FF2B5EF4-FFF2-40B4-BE49-F238E27FC236}">
                <a16:creationId xmlns:a16="http://schemas.microsoft.com/office/drawing/2014/main" id="{C4E7AD33-F6FA-5457-9F3A-353C1F7964EB}"/>
              </a:ext>
            </a:extLst>
          </p:cNvPr>
          <p:cNvSpPr>
            <a:spLocks noGrp="1"/>
          </p:cNvSpPr>
          <p:nvPr>
            <p:ph idx="1"/>
          </p:nvPr>
        </p:nvSpPr>
        <p:spPr>
          <a:xfrm>
            <a:off x="1104293" y="1806734"/>
            <a:ext cx="8946541" cy="4195481"/>
          </a:xfrm>
          <a:solidFill>
            <a:schemeClr val="bg2">
              <a:lumMod val="50000"/>
            </a:schemeClr>
          </a:solidFill>
          <a:ln>
            <a:solidFill>
              <a:schemeClr val="bg2">
                <a:lumMod val="60000"/>
                <a:lumOff val="40000"/>
              </a:schemeClr>
            </a:solidFill>
          </a:ln>
        </p:spPr>
        <p:txBody>
          <a:bodyPr/>
          <a:lstStyle/>
          <a:p>
            <a:pPr marL="0" indent="0">
              <a:buNone/>
            </a:pPr>
            <a:r>
              <a:rPr lang="en-US" b="1" dirty="0"/>
              <a:t>Content:</a:t>
            </a:r>
            <a:endParaRPr lang="en-US" dirty="0"/>
          </a:p>
          <a:p>
            <a:r>
              <a:rPr lang="en-US" dirty="0"/>
              <a:t>Maharashtra highest</a:t>
            </a:r>
          </a:p>
          <a:p>
            <a:r>
              <a:rPr lang="en-US" dirty="0"/>
              <a:t>Followed by Karnataka, Uttar Pradesh, Telangana</a:t>
            </a:r>
          </a:p>
          <a:p>
            <a:r>
              <a:rPr lang="en-US" dirty="0"/>
              <a:t>West Bengal is lowest among the top 10</a:t>
            </a:r>
          </a:p>
          <a:p>
            <a:pPr marL="0" indent="0">
              <a:buNone/>
            </a:pPr>
            <a:endParaRPr lang="en-US" dirty="0"/>
          </a:p>
          <a:p>
            <a:pPr marL="0" indent="0">
              <a:buNone/>
            </a:pPr>
            <a:r>
              <a:rPr lang="en-US" b="1" dirty="0"/>
              <a:t>What to Speak:</a:t>
            </a:r>
            <a:endParaRPr lang="en-US" dirty="0"/>
          </a:p>
          <a:p>
            <a:r>
              <a:rPr lang="en-US" dirty="0"/>
              <a:t>"Maharashtra leads the sales chart with the highest order value."</a:t>
            </a:r>
          </a:p>
          <a:p>
            <a:r>
              <a:rPr lang="en-US" dirty="0"/>
              <a:t>"Karnataka and Uttar Pradesh follow strongly."</a:t>
            </a:r>
          </a:p>
          <a:p>
            <a:r>
              <a:rPr lang="en-US" dirty="0"/>
              <a:t>"This gives us clarity on the highest revenue-generating regions."</a:t>
            </a:r>
          </a:p>
          <a:p>
            <a:endParaRPr lang="en-IN" dirty="0"/>
          </a:p>
        </p:txBody>
      </p:sp>
    </p:spTree>
    <p:extLst>
      <p:ext uri="{BB962C8B-B14F-4D97-AF65-F5344CB8AC3E}">
        <p14:creationId xmlns:p14="http://schemas.microsoft.com/office/powerpoint/2010/main" val="1126230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82A0B-7154-C503-8558-47D068472C8C}"/>
              </a:ext>
            </a:extLst>
          </p:cNvPr>
          <p:cNvSpPr>
            <a:spLocks noGrp="1"/>
          </p:cNvSpPr>
          <p:nvPr>
            <p:ph type="title"/>
          </p:nvPr>
        </p:nvSpPr>
        <p:spPr>
          <a:xfrm>
            <a:off x="646111" y="452719"/>
            <a:ext cx="9404723" cy="697524"/>
          </a:xfrm>
          <a:solidFill>
            <a:schemeClr val="bg2">
              <a:lumMod val="50000"/>
            </a:schemeClr>
          </a:solidFill>
          <a:ln>
            <a:solidFill>
              <a:schemeClr val="bg2">
                <a:lumMod val="60000"/>
                <a:lumOff val="40000"/>
              </a:schemeClr>
            </a:solidFill>
          </a:ln>
        </p:spPr>
        <p:txBody>
          <a:bodyPr/>
          <a:lstStyle/>
          <a:p>
            <a:r>
              <a:rPr lang="en-US" b="1" dirty="0"/>
              <a:t>Orders by Channel (Pie Chart)</a:t>
            </a:r>
            <a:br>
              <a:rPr lang="en-US" b="1" dirty="0"/>
            </a:br>
            <a:endParaRPr lang="en-IN" dirty="0"/>
          </a:p>
        </p:txBody>
      </p:sp>
      <p:sp>
        <p:nvSpPr>
          <p:cNvPr id="3" name="Content Placeholder 2">
            <a:extLst>
              <a:ext uri="{FF2B5EF4-FFF2-40B4-BE49-F238E27FC236}">
                <a16:creationId xmlns:a16="http://schemas.microsoft.com/office/drawing/2014/main" id="{2F9FBE48-35EE-FB61-FE6A-30DB6B84D250}"/>
              </a:ext>
            </a:extLst>
          </p:cNvPr>
          <p:cNvSpPr>
            <a:spLocks noGrp="1"/>
          </p:cNvSpPr>
          <p:nvPr>
            <p:ph idx="1"/>
          </p:nvPr>
        </p:nvSpPr>
        <p:spPr>
          <a:xfrm>
            <a:off x="1104293" y="1512277"/>
            <a:ext cx="8946541" cy="4195481"/>
          </a:xfrm>
          <a:solidFill>
            <a:schemeClr val="bg2">
              <a:lumMod val="50000"/>
            </a:schemeClr>
          </a:solidFill>
          <a:ln>
            <a:solidFill>
              <a:schemeClr val="bg2">
                <a:lumMod val="60000"/>
                <a:lumOff val="40000"/>
              </a:schemeClr>
            </a:solidFill>
          </a:ln>
        </p:spPr>
        <p:txBody>
          <a:bodyPr>
            <a:normAutofit fontScale="92500" lnSpcReduction="10000"/>
          </a:bodyPr>
          <a:lstStyle/>
          <a:p>
            <a:pPr marL="0" indent="0">
              <a:buNone/>
            </a:pPr>
            <a:r>
              <a:rPr lang="en-US" b="1" dirty="0"/>
              <a:t>Content:</a:t>
            </a:r>
            <a:endParaRPr lang="en-US" dirty="0"/>
          </a:p>
          <a:p>
            <a:r>
              <a:rPr lang="en-US" dirty="0"/>
              <a:t>Amazon: </a:t>
            </a:r>
            <a:r>
              <a:rPr lang="en-US" b="1" dirty="0"/>
              <a:t>35.5%</a:t>
            </a:r>
            <a:endParaRPr lang="en-US" dirty="0"/>
          </a:p>
          <a:p>
            <a:r>
              <a:rPr lang="en-US" dirty="0"/>
              <a:t>Flipkart: </a:t>
            </a:r>
            <a:r>
              <a:rPr lang="en-US" b="1" dirty="0"/>
              <a:t>21.6%</a:t>
            </a:r>
            <a:endParaRPr lang="en-US" dirty="0"/>
          </a:p>
          <a:p>
            <a:r>
              <a:rPr lang="en-US" dirty="0"/>
              <a:t>Myntra: </a:t>
            </a:r>
            <a:r>
              <a:rPr lang="en-US" b="1" dirty="0"/>
              <a:t>23.4%</a:t>
            </a:r>
            <a:endParaRPr lang="en-US" dirty="0"/>
          </a:p>
          <a:p>
            <a:r>
              <a:rPr lang="en-US" dirty="0"/>
              <a:t>Others (Ajio, Nalli, </a:t>
            </a:r>
            <a:r>
              <a:rPr lang="en-US" dirty="0" err="1"/>
              <a:t>Meesho</a:t>
            </a:r>
            <a:r>
              <a:rPr lang="en-US" dirty="0"/>
              <a:t>): remaining share</a:t>
            </a:r>
          </a:p>
          <a:p>
            <a:pPr marL="0" indent="0">
              <a:buNone/>
            </a:pPr>
            <a:endParaRPr lang="en-US" dirty="0"/>
          </a:p>
          <a:p>
            <a:pPr marL="0" indent="0">
              <a:buNone/>
            </a:pPr>
            <a:r>
              <a:rPr lang="en-US" b="1" dirty="0"/>
              <a:t>What to Speak:</a:t>
            </a:r>
            <a:endParaRPr lang="en-US" dirty="0"/>
          </a:p>
          <a:p>
            <a:r>
              <a:rPr lang="en-US" dirty="0"/>
              <a:t>"Amazon is our strongest sales channel with 35.5% contribution."</a:t>
            </a:r>
          </a:p>
          <a:p>
            <a:r>
              <a:rPr lang="en-US" dirty="0"/>
              <a:t>"Flipkart and Myntra also perform well."</a:t>
            </a:r>
          </a:p>
          <a:p>
            <a:r>
              <a:rPr lang="en-US" dirty="0"/>
              <a:t>"Other channels like Ajio and </a:t>
            </a:r>
            <a:r>
              <a:rPr lang="en-US" dirty="0" err="1"/>
              <a:t>Meesho</a:t>
            </a:r>
            <a:r>
              <a:rPr lang="en-US" dirty="0"/>
              <a:t> collectively add smaller contributions but offer growth opportunities."</a:t>
            </a:r>
          </a:p>
          <a:p>
            <a:endParaRPr lang="en-IN" dirty="0"/>
          </a:p>
        </p:txBody>
      </p:sp>
    </p:spTree>
    <p:extLst>
      <p:ext uri="{BB962C8B-B14F-4D97-AF65-F5344CB8AC3E}">
        <p14:creationId xmlns:p14="http://schemas.microsoft.com/office/powerpoint/2010/main" val="50579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30A3B-B61F-1FD0-CDEA-E8E2C552E46E}"/>
              </a:ext>
            </a:extLst>
          </p:cNvPr>
          <p:cNvSpPr>
            <a:spLocks noGrp="1"/>
          </p:cNvSpPr>
          <p:nvPr>
            <p:ph type="title"/>
          </p:nvPr>
        </p:nvSpPr>
        <p:spPr>
          <a:xfrm>
            <a:off x="875201" y="272390"/>
            <a:ext cx="9404723" cy="1041974"/>
          </a:xfrm>
          <a:solidFill>
            <a:schemeClr val="bg2">
              <a:lumMod val="50000"/>
            </a:schemeClr>
          </a:solidFill>
          <a:ln>
            <a:solidFill>
              <a:schemeClr val="bg2">
                <a:lumMod val="60000"/>
                <a:lumOff val="40000"/>
              </a:schemeClr>
            </a:solidFill>
          </a:ln>
        </p:spPr>
        <p:txBody>
          <a:bodyPr/>
          <a:lstStyle/>
          <a:p>
            <a:r>
              <a:rPr lang="en-US" b="1" dirty="0"/>
              <a:t>States &amp; Amount (Geo Map</a:t>
            </a:r>
            <a:endParaRPr lang="en-IN" dirty="0"/>
          </a:p>
        </p:txBody>
      </p:sp>
      <p:sp>
        <p:nvSpPr>
          <p:cNvPr id="3" name="Content Placeholder 2">
            <a:extLst>
              <a:ext uri="{FF2B5EF4-FFF2-40B4-BE49-F238E27FC236}">
                <a16:creationId xmlns:a16="http://schemas.microsoft.com/office/drawing/2014/main" id="{96B52319-EE17-7D7A-09E6-098346281A9A}"/>
              </a:ext>
            </a:extLst>
          </p:cNvPr>
          <p:cNvSpPr>
            <a:spLocks noGrp="1"/>
          </p:cNvSpPr>
          <p:nvPr>
            <p:ph idx="1"/>
          </p:nvPr>
        </p:nvSpPr>
        <p:spPr>
          <a:xfrm>
            <a:off x="875201" y="1494692"/>
            <a:ext cx="8946541" cy="4048944"/>
          </a:xfrm>
          <a:solidFill>
            <a:schemeClr val="bg2">
              <a:lumMod val="50000"/>
            </a:schemeClr>
          </a:solidFill>
          <a:ln>
            <a:solidFill>
              <a:schemeClr val="bg2">
                <a:lumMod val="60000"/>
                <a:lumOff val="40000"/>
              </a:schemeClr>
            </a:solidFill>
          </a:ln>
        </p:spPr>
        <p:txBody>
          <a:bodyPr/>
          <a:lstStyle/>
          <a:p>
            <a:pPr marL="0" indent="0">
              <a:buNone/>
            </a:pPr>
            <a:r>
              <a:rPr lang="en-US" b="1" dirty="0"/>
              <a:t>Content:</a:t>
            </a:r>
            <a:endParaRPr lang="en-US" dirty="0"/>
          </a:p>
          <a:p>
            <a:r>
              <a:rPr lang="en-US" dirty="0"/>
              <a:t>High-value states highlighted</a:t>
            </a:r>
          </a:p>
          <a:p>
            <a:r>
              <a:rPr lang="en-US" dirty="0"/>
              <a:t>Clear difference between lowest and highest purchase zones</a:t>
            </a:r>
          </a:p>
          <a:p>
            <a:pPr marL="0" indent="0">
              <a:buNone/>
            </a:pPr>
            <a:endParaRPr lang="en-US" dirty="0"/>
          </a:p>
          <a:p>
            <a:pPr marL="0" indent="0">
              <a:buNone/>
            </a:pPr>
            <a:r>
              <a:rPr lang="en-US" b="1" dirty="0"/>
              <a:t>What to Speak:</a:t>
            </a:r>
            <a:endParaRPr lang="en-US" dirty="0"/>
          </a:p>
          <a:p>
            <a:r>
              <a:rPr lang="en-US" dirty="0"/>
              <a:t>"This map visualizes the geographical distribution of sales."</a:t>
            </a:r>
          </a:p>
          <a:p>
            <a:r>
              <a:rPr lang="en-US" dirty="0"/>
              <a:t>"Northern and Western regions show strong purchasing patterns compared to some eastern states."</a:t>
            </a:r>
          </a:p>
          <a:p>
            <a:r>
              <a:rPr lang="en-US" dirty="0"/>
              <a:t>"This helps in planning region-specific strategies."</a:t>
            </a:r>
          </a:p>
          <a:p>
            <a:endParaRPr lang="en-IN" dirty="0"/>
          </a:p>
        </p:txBody>
      </p:sp>
    </p:spTree>
    <p:extLst>
      <p:ext uri="{BB962C8B-B14F-4D97-AF65-F5344CB8AC3E}">
        <p14:creationId xmlns:p14="http://schemas.microsoft.com/office/powerpoint/2010/main" val="1372694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F185AD-2486-2A02-2EF3-1D94848FB2E3}"/>
              </a:ext>
            </a:extLst>
          </p:cNvPr>
          <p:cNvSpPr>
            <a:spLocks noGrp="1"/>
          </p:cNvSpPr>
          <p:nvPr>
            <p:ph idx="1"/>
          </p:nvPr>
        </p:nvSpPr>
        <p:spPr>
          <a:xfrm>
            <a:off x="978548" y="1387738"/>
            <a:ext cx="8596668" cy="3377693"/>
          </a:xfrm>
          <a:solidFill>
            <a:schemeClr val="bg2">
              <a:lumMod val="50000"/>
            </a:schemeClr>
          </a:solidFill>
          <a:ln>
            <a:solidFill>
              <a:schemeClr val="bg2">
                <a:lumMod val="60000"/>
                <a:lumOff val="40000"/>
              </a:schemeClr>
            </a:solidFill>
          </a:ln>
        </p:spPr>
        <p:txBody>
          <a:bodyPr>
            <a:normAutofit lnSpcReduction="10000"/>
          </a:bodyPr>
          <a:lstStyle/>
          <a:p>
            <a:pPr algn="just">
              <a:lnSpc>
                <a:spcPct val="200000"/>
              </a:lnSpc>
            </a:pPr>
            <a:r>
              <a:rPr lang="en-US" b="1" dirty="0">
                <a:solidFill>
                  <a:schemeClr val="tx1">
                    <a:lumMod val="85000"/>
                    <a:lumOff val="15000"/>
                  </a:schemeClr>
                </a:solidFill>
              </a:rPr>
              <a:t>Dataset Summary:- Dataset Size</a:t>
            </a:r>
            <a:r>
              <a:rPr lang="en-US" dirty="0">
                <a:solidFill>
                  <a:schemeClr val="tx1">
                    <a:lumMod val="85000"/>
                    <a:lumOff val="15000"/>
                  </a:schemeClr>
                </a:solidFill>
              </a:rPr>
              <a:t>: 31,048 rows × 20 columns</a:t>
            </a:r>
          </a:p>
          <a:p>
            <a:pPr algn="just">
              <a:lnSpc>
                <a:spcPct val="200000"/>
              </a:lnSpc>
            </a:pPr>
            <a:r>
              <a:rPr lang="en-US" b="1" dirty="0">
                <a:solidFill>
                  <a:schemeClr val="tx1">
                    <a:lumMod val="85000"/>
                    <a:lumOff val="15000"/>
                  </a:schemeClr>
                </a:solidFill>
              </a:rPr>
              <a:t>Columns Description (one line each):</a:t>
            </a:r>
            <a:r>
              <a:rPr lang="en-US" dirty="0">
                <a:solidFill>
                  <a:schemeClr val="tx1">
                    <a:lumMod val="85000"/>
                    <a:lumOff val="15000"/>
                  </a:schemeClr>
                </a:solidFill>
              </a:rPr>
              <a:t>- </a:t>
            </a:r>
            <a:r>
              <a:rPr lang="en-US" b="1" dirty="0">
                <a:solidFill>
                  <a:schemeClr val="tx1">
                    <a:lumMod val="85000"/>
                    <a:lumOff val="15000"/>
                  </a:schemeClr>
                </a:solidFill>
              </a:rPr>
              <a:t>Index</a:t>
            </a:r>
            <a:r>
              <a:rPr lang="en-US" dirty="0">
                <a:solidFill>
                  <a:schemeClr val="tx1">
                    <a:lumMod val="85000"/>
                    <a:lumOff val="15000"/>
                  </a:schemeClr>
                </a:solidFill>
              </a:rPr>
              <a:t>, </a:t>
            </a:r>
            <a:r>
              <a:rPr lang="en-US" b="1" dirty="0">
                <a:solidFill>
                  <a:schemeClr val="tx1">
                    <a:lumMod val="85000"/>
                    <a:lumOff val="15000"/>
                  </a:schemeClr>
                </a:solidFill>
              </a:rPr>
              <a:t>Order ID</a:t>
            </a:r>
            <a:r>
              <a:rPr lang="en-US" dirty="0">
                <a:solidFill>
                  <a:schemeClr val="tx1">
                    <a:lumMod val="85000"/>
                    <a:lumOff val="15000"/>
                  </a:schemeClr>
                </a:solidFill>
              </a:rPr>
              <a:t>, </a:t>
            </a:r>
            <a:r>
              <a:rPr lang="en-US" b="1" dirty="0">
                <a:solidFill>
                  <a:schemeClr val="tx1">
                    <a:lumMod val="85000"/>
                    <a:lumOff val="15000"/>
                  </a:schemeClr>
                </a:solidFill>
              </a:rPr>
              <a:t>Cust ID</a:t>
            </a:r>
            <a:r>
              <a:rPr lang="en-US" dirty="0">
                <a:solidFill>
                  <a:schemeClr val="tx1">
                    <a:lumMod val="85000"/>
                    <a:lumOff val="15000"/>
                  </a:schemeClr>
                </a:solidFill>
              </a:rPr>
              <a:t>, </a:t>
            </a:r>
            <a:r>
              <a:rPr lang="en-US" b="1" dirty="0">
                <a:solidFill>
                  <a:schemeClr val="tx1">
                    <a:lumMod val="85000"/>
                    <a:lumOff val="15000"/>
                  </a:schemeClr>
                </a:solidFill>
              </a:rPr>
              <a:t>Gender</a:t>
            </a:r>
            <a:r>
              <a:rPr lang="en-US" dirty="0">
                <a:solidFill>
                  <a:schemeClr val="tx1">
                    <a:lumMod val="85000"/>
                    <a:lumOff val="15000"/>
                  </a:schemeClr>
                </a:solidFill>
              </a:rPr>
              <a:t>, </a:t>
            </a:r>
            <a:r>
              <a:rPr lang="en-US" b="1" dirty="0">
                <a:solidFill>
                  <a:schemeClr val="tx1">
                    <a:lumMod val="85000"/>
                    <a:lumOff val="15000"/>
                  </a:schemeClr>
                </a:solidFill>
              </a:rPr>
              <a:t>Age</a:t>
            </a:r>
            <a:r>
              <a:rPr lang="en-US" dirty="0">
                <a:solidFill>
                  <a:schemeClr val="tx1">
                    <a:lumMod val="85000"/>
                    <a:lumOff val="15000"/>
                  </a:schemeClr>
                </a:solidFill>
              </a:rPr>
              <a:t>, </a:t>
            </a:r>
            <a:r>
              <a:rPr lang="en-US" b="1" dirty="0">
                <a:solidFill>
                  <a:schemeClr val="tx1">
                    <a:lumMod val="85000"/>
                    <a:lumOff val="15000"/>
                  </a:schemeClr>
                </a:solidFill>
              </a:rPr>
              <a:t>Senior</a:t>
            </a:r>
            <a:r>
              <a:rPr lang="en-US" dirty="0">
                <a:solidFill>
                  <a:schemeClr val="tx1">
                    <a:lumMod val="85000"/>
                    <a:lumOff val="15000"/>
                  </a:schemeClr>
                </a:solidFill>
              </a:rPr>
              <a:t>, </a:t>
            </a:r>
            <a:r>
              <a:rPr lang="en-US" b="1" dirty="0">
                <a:solidFill>
                  <a:schemeClr val="tx1">
                    <a:lumMod val="85000"/>
                    <a:lumOff val="15000"/>
                  </a:schemeClr>
                </a:solidFill>
              </a:rPr>
              <a:t>Date</a:t>
            </a:r>
            <a:r>
              <a:rPr lang="en-US" dirty="0">
                <a:solidFill>
                  <a:schemeClr val="tx1">
                    <a:lumMod val="85000"/>
                    <a:lumOff val="15000"/>
                  </a:schemeClr>
                </a:solidFill>
              </a:rPr>
              <a:t>, </a:t>
            </a:r>
            <a:r>
              <a:rPr lang="en-US" b="1" dirty="0">
                <a:solidFill>
                  <a:schemeClr val="tx1">
                    <a:lumMod val="85000"/>
                    <a:lumOff val="15000"/>
                  </a:schemeClr>
                </a:solidFill>
              </a:rPr>
              <a:t>Month</a:t>
            </a:r>
            <a:r>
              <a:rPr lang="en-US" dirty="0">
                <a:solidFill>
                  <a:schemeClr val="tx1">
                    <a:lumMod val="85000"/>
                    <a:lumOff val="15000"/>
                  </a:schemeClr>
                </a:solidFill>
              </a:rPr>
              <a:t>, </a:t>
            </a:r>
            <a:r>
              <a:rPr lang="en-US" b="1" dirty="0">
                <a:solidFill>
                  <a:schemeClr val="tx1">
                    <a:lumMod val="85000"/>
                    <a:lumOff val="15000"/>
                  </a:schemeClr>
                </a:solidFill>
              </a:rPr>
              <a:t>Status</a:t>
            </a:r>
            <a:r>
              <a:rPr lang="en-US" dirty="0">
                <a:solidFill>
                  <a:schemeClr val="tx1">
                    <a:lumMod val="85000"/>
                    <a:lumOff val="15000"/>
                  </a:schemeClr>
                </a:solidFill>
              </a:rPr>
              <a:t>, </a:t>
            </a:r>
            <a:r>
              <a:rPr lang="en-US" b="1" dirty="0">
                <a:solidFill>
                  <a:schemeClr val="tx1">
                    <a:lumMod val="85000"/>
                    <a:lumOff val="15000"/>
                  </a:schemeClr>
                </a:solidFill>
              </a:rPr>
              <a:t>SKU,</a:t>
            </a:r>
            <a:r>
              <a:rPr lang="en-US" dirty="0">
                <a:solidFill>
                  <a:schemeClr val="tx1">
                    <a:lumMod val="85000"/>
                    <a:lumOff val="15000"/>
                  </a:schemeClr>
                </a:solidFill>
              </a:rPr>
              <a:t> </a:t>
            </a:r>
          </a:p>
          <a:p>
            <a:pPr algn="just">
              <a:lnSpc>
                <a:spcPct val="200000"/>
              </a:lnSpc>
            </a:pPr>
            <a:r>
              <a:rPr lang="en-US" b="1" dirty="0">
                <a:solidFill>
                  <a:schemeClr val="tx1">
                    <a:lumMod val="85000"/>
                    <a:lumOff val="15000"/>
                  </a:schemeClr>
                </a:solidFill>
              </a:rPr>
              <a:t>Size</a:t>
            </a:r>
            <a:r>
              <a:rPr lang="en-US" dirty="0">
                <a:solidFill>
                  <a:schemeClr val="tx1">
                    <a:lumMod val="85000"/>
                    <a:lumOff val="15000"/>
                  </a:schemeClr>
                </a:solidFill>
              </a:rPr>
              <a:t> </a:t>
            </a:r>
            <a:r>
              <a:rPr lang="en-US" b="1" dirty="0">
                <a:solidFill>
                  <a:schemeClr val="tx1">
                    <a:lumMod val="85000"/>
                    <a:lumOff val="15000"/>
                  </a:schemeClr>
                </a:solidFill>
              </a:rPr>
              <a:t>Qty</a:t>
            </a:r>
            <a:r>
              <a:rPr lang="en-US" dirty="0">
                <a:solidFill>
                  <a:schemeClr val="tx1">
                    <a:lumMod val="85000"/>
                    <a:lumOff val="15000"/>
                  </a:schemeClr>
                </a:solidFill>
              </a:rPr>
              <a:t> ,</a:t>
            </a:r>
            <a:r>
              <a:rPr lang="en-US" b="1" dirty="0">
                <a:solidFill>
                  <a:schemeClr val="tx1">
                    <a:lumMod val="85000"/>
                    <a:lumOff val="15000"/>
                  </a:schemeClr>
                </a:solidFill>
              </a:rPr>
              <a:t>Currency</a:t>
            </a:r>
            <a:r>
              <a:rPr lang="en-US" dirty="0">
                <a:solidFill>
                  <a:schemeClr val="tx1">
                    <a:lumMod val="85000"/>
                    <a:lumOff val="15000"/>
                  </a:schemeClr>
                </a:solidFill>
              </a:rPr>
              <a:t> ,</a:t>
            </a:r>
            <a:r>
              <a:rPr lang="en-US" b="1" dirty="0">
                <a:solidFill>
                  <a:schemeClr val="tx1">
                    <a:lumMod val="85000"/>
                    <a:lumOff val="15000"/>
                  </a:schemeClr>
                </a:solidFill>
              </a:rPr>
              <a:t>Amount</a:t>
            </a:r>
            <a:r>
              <a:rPr lang="en-US" dirty="0">
                <a:solidFill>
                  <a:schemeClr val="tx1">
                    <a:lumMod val="85000"/>
                    <a:lumOff val="15000"/>
                  </a:schemeClr>
                </a:solidFill>
              </a:rPr>
              <a:t> ,</a:t>
            </a:r>
            <a:r>
              <a:rPr lang="en-US" b="1" dirty="0">
                <a:solidFill>
                  <a:schemeClr val="tx1">
                    <a:lumMod val="85000"/>
                    <a:lumOff val="15000"/>
                  </a:schemeClr>
                </a:solidFill>
              </a:rPr>
              <a:t>Ship-City</a:t>
            </a:r>
            <a:r>
              <a:rPr lang="en-US" dirty="0">
                <a:solidFill>
                  <a:schemeClr val="tx1">
                    <a:lumMod val="85000"/>
                    <a:lumOff val="15000"/>
                  </a:schemeClr>
                </a:solidFill>
              </a:rPr>
              <a:t> ,</a:t>
            </a:r>
            <a:r>
              <a:rPr lang="en-US" b="1" dirty="0">
                <a:solidFill>
                  <a:schemeClr val="tx1">
                    <a:lumMod val="85000"/>
                    <a:lumOff val="15000"/>
                  </a:schemeClr>
                </a:solidFill>
              </a:rPr>
              <a:t>Ship-State</a:t>
            </a:r>
            <a:r>
              <a:rPr lang="en-US" dirty="0">
                <a:solidFill>
                  <a:schemeClr val="tx1">
                    <a:lumMod val="85000"/>
                    <a:lumOff val="15000"/>
                  </a:schemeClr>
                </a:solidFill>
              </a:rPr>
              <a:t> ,</a:t>
            </a:r>
            <a:r>
              <a:rPr lang="en-US" b="1" dirty="0">
                <a:solidFill>
                  <a:schemeClr val="tx1">
                    <a:lumMod val="85000"/>
                    <a:lumOff val="15000"/>
                  </a:schemeClr>
                </a:solidFill>
              </a:rPr>
              <a:t>Ship-Postal-Code</a:t>
            </a:r>
            <a:r>
              <a:rPr lang="en-US" dirty="0">
                <a:solidFill>
                  <a:schemeClr val="tx1">
                    <a:lumMod val="85000"/>
                    <a:lumOff val="15000"/>
                  </a:schemeClr>
                </a:solidFill>
              </a:rPr>
              <a:t> ,</a:t>
            </a:r>
            <a:r>
              <a:rPr lang="en-US" b="1" dirty="0">
                <a:solidFill>
                  <a:schemeClr val="tx1">
                    <a:lumMod val="85000"/>
                    <a:lumOff val="15000"/>
                  </a:schemeClr>
                </a:solidFill>
              </a:rPr>
              <a:t>Ship-Country</a:t>
            </a:r>
            <a:r>
              <a:rPr lang="en-US" dirty="0">
                <a:solidFill>
                  <a:schemeClr val="tx1">
                    <a:lumMod val="85000"/>
                    <a:lumOff val="15000"/>
                  </a:schemeClr>
                </a:solidFill>
              </a:rPr>
              <a:t> ,</a:t>
            </a:r>
            <a:r>
              <a:rPr lang="en-US" b="1" dirty="0">
                <a:solidFill>
                  <a:schemeClr val="tx1">
                    <a:lumMod val="85000"/>
                    <a:lumOff val="15000"/>
                  </a:schemeClr>
                </a:solidFill>
              </a:rPr>
              <a:t>B2B</a:t>
            </a:r>
            <a:endParaRPr lang="en-US" dirty="0">
              <a:solidFill>
                <a:schemeClr val="tx1">
                  <a:lumMod val="85000"/>
                  <a:lumOff val="15000"/>
                </a:schemeClr>
              </a:solidFill>
            </a:endParaRPr>
          </a:p>
          <a:p>
            <a:pPr algn="just">
              <a:lnSpc>
                <a:spcPct val="200000"/>
              </a:lnSpc>
            </a:pPr>
            <a:endParaRPr lang="en-IN" dirty="0"/>
          </a:p>
        </p:txBody>
      </p:sp>
    </p:spTree>
    <p:extLst>
      <p:ext uri="{BB962C8B-B14F-4D97-AF65-F5344CB8AC3E}">
        <p14:creationId xmlns:p14="http://schemas.microsoft.com/office/powerpoint/2010/main" val="6136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ACDAA-2C39-D34A-DD55-BF4C536C11A1}"/>
              </a:ext>
            </a:extLst>
          </p:cNvPr>
          <p:cNvSpPr>
            <a:spLocks noGrp="1"/>
          </p:cNvSpPr>
          <p:nvPr>
            <p:ph type="title"/>
          </p:nvPr>
        </p:nvSpPr>
        <p:spPr>
          <a:xfrm>
            <a:off x="1103312" y="435134"/>
            <a:ext cx="9452957" cy="743036"/>
          </a:xfrm>
          <a:solidFill>
            <a:schemeClr val="bg2">
              <a:lumMod val="75000"/>
            </a:schemeClr>
          </a:solidFill>
          <a:ln>
            <a:solidFill>
              <a:schemeClr val="bg2">
                <a:lumMod val="60000"/>
                <a:lumOff val="40000"/>
              </a:schemeClr>
            </a:solidFill>
          </a:ln>
        </p:spPr>
        <p:txBody>
          <a:bodyPr/>
          <a:lstStyle/>
          <a:p>
            <a:pPr marL="571500" indent="-571500">
              <a:buFont typeface="Wingdings" panose="05000000000000000000" pitchFamily="2" charset="2"/>
              <a:buChar char="Ø"/>
            </a:pPr>
            <a:r>
              <a:rPr lang="en-US" b="1" dirty="0"/>
              <a:t>Summary</a:t>
            </a:r>
            <a:endParaRPr lang="en-IN" b="1" dirty="0"/>
          </a:p>
        </p:txBody>
      </p:sp>
      <p:sp>
        <p:nvSpPr>
          <p:cNvPr id="3" name="Content Placeholder 2">
            <a:extLst>
              <a:ext uri="{FF2B5EF4-FFF2-40B4-BE49-F238E27FC236}">
                <a16:creationId xmlns:a16="http://schemas.microsoft.com/office/drawing/2014/main" id="{84463D60-7B61-ED1A-C95F-ECE6E3C3A1E1}"/>
              </a:ext>
            </a:extLst>
          </p:cNvPr>
          <p:cNvSpPr>
            <a:spLocks noGrp="1"/>
          </p:cNvSpPr>
          <p:nvPr>
            <p:ph idx="1"/>
          </p:nvPr>
        </p:nvSpPr>
        <p:spPr>
          <a:xfrm>
            <a:off x="1103312" y="1547446"/>
            <a:ext cx="10467365" cy="4700953"/>
          </a:xfrm>
          <a:solidFill>
            <a:schemeClr val="bg2">
              <a:lumMod val="75000"/>
            </a:schemeClr>
          </a:solidFill>
          <a:ln>
            <a:solidFill>
              <a:schemeClr val="bg2">
                <a:lumMod val="60000"/>
                <a:lumOff val="40000"/>
              </a:schemeClr>
            </a:solidFill>
          </a:ln>
        </p:spPr>
        <p:txBody>
          <a:bodyPr>
            <a:normAutofit/>
          </a:bodyPr>
          <a:lstStyle/>
          <a:p>
            <a:pPr marL="0" indent="0" algn="just">
              <a:lnSpc>
                <a:spcPct val="150000"/>
              </a:lnSpc>
              <a:buNone/>
            </a:pPr>
            <a:r>
              <a:rPr lang="en-US" dirty="0"/>
              <a:t>The Store Annual Report 2025 highlights overall business performance across sales, customer behavior, and regional insights. Sales peaked between February and May, while women contributed the majority of purchases at 64%. Order operations were highly efficient, with 92% successful deliveries and minimal returns or cancellations. Senior customers formed the largest buying group, followed by adults. Maharashtra, Karnataka, and Uttar Pradesh emerged as the top-performing states. Amazon remained the strongest sales channel, followed by Myntra and Flipkart. Overall, the report shows strong customer engagement, high delivery success, and clear trends for future strategic planning.</a:t>
            </a:r>
            <a:endParaRPr lang="en-IN" dirty="0"/>
          </a:p>
        </p:txBody>
      </p:sp>
    </p:spTree>
    <p:extLst>
      <p:ext uri="{BB962C8B-B14F-4D97-AF65-F5344CB8AC3E}">
        <p14:creationId xmlns:p14="http://schemas.microsoft.com/office/powerpoint/2010/main" val="718239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D558F-0EB0-B32B-6A0A-5F125200B543}"/>
              </a:ext>
            </a:extLst>
          </p:cNvPr>
          <p:cNvSpPr>
            <a:spLocks noGrp="1"/>
          </p:cNvSpPr>
          <p:nvPr>
            <p:ph type="title"/>
          </p:nvPr>
        </p:nvSpPr>
        <p:spPr>
          <a:xfrm>
            <a:off x="733426" y="257222"/>
            <a:ext cx="10131425" cy="1041929"/>
          </a:xfrm>
        </p:spPr>
        <p:txBody>
          <a:bodyPr/>
          <a:lstStyle/>
          <a:p>
            <a:pPr algn="ctr"/>
            <a:r>
              <a:rPr lang="en-US" b="1" dirty="0">
                <a:solidFill>
                  <a:schemeClr val="tx1"/>
                </a:solidFill>
              </a:rPr>
              <a:t>DASHBAORD</a:t>
            </a:r>
            <a:endParaRPr lang="en-IN" b="1" dirty="0">
              <a:solidFill>
                <a:schemeClr val="tx1"/>
              </a:solidFill>
            </a:endParaRPr>
          </a:p>
        </p:txBody>
      </p:sp>
      <p:pic>
        <p:nvPicPr>
          <p:cNvPr id="4" name="Picture 3">
            <a:extLst>
              <a:ext uri="{FF2B5EF4-FFF2-40B4-BE49-F238E27FC236}">
                <a16:creationId xmlns:a16="http://schemas.microsoft.com/office/drawing/2014/main" id="{D854D621-D798-9125-8237-C05461EF9A43}"/>
              </a:ext>
            </a:extLst>
          </p:cNvPr>
          <p:cNvPicPr>
            <a:picLocks noChangeAspect="1"/>
          </p:cNvPicPr>
          <p:nvPr/>
        </p:nvPicPr>
        <p:blipFill>
          <a:blip r:embed="rId2"/>
          <a:stretch>
            <a:fillRect/>
          </a:stretch>
        </p:blipFill>
        <p:spPr>
          <a:xfrm>
            <a:off x="562708" y="1160584"/>
            <a:ext cx="10302143" cy="5440193"/>
          </a:xfrm>
          <a:prstGeom prst="rect">
            <a:avLst/>
          </a:prstGeom>
          <a:ln>
            <a:solidFill>
              <a:schemeClr val="accent1"/>
            </a:solidFill>
          </a:ln>
        </p:spPr>
      </p:pic>
    </p:spTree>
    <p:extLst>
      <p:ext uri="{BB962C8B-B14F-4D97-AF65-F5344CB8AC3E}">
        <p14:creationId xmlns:p14="http://schemas.microsoft.com/office/powerpoint/2010/main" val="1283510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1EF5-5D7C-009C-485D-0F88F21CDDB8}"/>
              </a:ext>
            </a:extLst>
          </p:cNvPr>
          <p:cNvSpPr>
            <a:spLocks noGrp="1"/>
          </p:cNvSpPr>
          <p:nvPr>
            <p:ph type="title"/>
          </p:nvPr>
        </p:nvSpPr>
        <p:spPr>
          <a:xfrm>
            <a:off x="677334" y="641873"/>
            <a:ext cx="8596668" cy="846740"/>
          </a:xfrm>
          <a:solidFill>
            <a:schemeClr val="bg2">
              <a:lumMod val="50000"/>
            </a:schemeClr>
          </a:solidFill>
          <a:ln>
            <a:solidFill>
              <a:srgbClr val="00B0F0"/>
            </a:solidFill>
          </a:ln>
        </p:spPr>
        <p:txBody>
          <a:bodyPr/>
          <a:lstStyle/>
          <a:p>
            <a:r>
              <a:rPr lang="en-US" dirty="0"/>
              <a:t>Formulas:-</a:t>
            </a:r>
            <a:endParaRPr lang="en-IN" dirty="0"/>
          </a:p>
        </p:txBody>
      </p:sp>
      <p:sp>
        <p:nvSpPr>
          <p:cNvPr id="3" name="Content Placeholder 2">
            <a:extLst>
              <a:ext uri="{FF2B5EF4-FFF2-40B4-BE49-F238E27FC236}">
                <a16:creationId xmlns:a16="http://schemas.microsoft.com/office/drawing/2014/main" id="{8AC8EC48-0F51-4D32-D025-39CB50470159}"/>
              </a:ext>
            </a:extLst>
          </p:cNvPr>
          <p:cNvSpPr>
            <a:spLocks noGrp="1"/>
          </p:cNvSpPr>
          <p:nvPr>
            <p:ph idx="1"/>
          </p:nvPr>
        </p:nvSpPr>
        <p:spPr>
          <a:xfrm>
            <a:off x="677334" y="1875474"/>
            <a:ext cx="9029374" cy="3880773"/>
          </a:xfrm>
          <a:solidFill>
            <a:schemeClr val="bg2">
              <a:lumMod val="50000"/>
            </a:schemeClr>
          </a:solidFill>
        </p:spPr>
        <p:txBody>
          <a:bodyPr>
            <a:normAutofit/>
          </a:bodyPr>
          <a:lstStyle/>
          <a:p>
            <a:r>
              <a:rPr lang="en-US" dirty="0">
                <a:latin typeface="Arial" panose="020B0604020202020204" pitchFamily="34" charset="0"/>
                <a:cs typeface="Arial" panose="020B0604020202020204" pitchFamily="34" charset="0"/>
              </a:rPr>
              <a:t>if the order is delivered or not. Used to classify orders :-=IF(Status="Delivered", "Successful", "Not Delivered")</a:t>
            </a:r>
          </a:p>
          <a:p>
            <a:r>
              <a:rPr lang="en-US" dirty="0">
                <a:latin typeface="Arial" panose="020B0604020202020204" pitchFamily="34" charset="0"/>
                <a:cs typeface="Arial" panose="020B0604020202020204" pitchFamily="34" charset="0"/>
              </a:rPr>
              <a:t>Categorizes customers into Teenager, Adult, or Senior based on Age.</a:t>
            </a:r>
          </a:p>
          <a:p>
            <a:pPr marL="0" indent="0">
              <a:buNone/>
            </a:pPr>
            <a:r>
              <a:rPr lang="en-US" dirty="0">
                <a:latin typeface="Arial" panose="020B0604020202020204" pitchFamily="34" charset="0"/>
                <a:cs typeface="Arial" panose="020B0604020202020204" pitchFamily="34" charset="0"/>
              </a:rPr>
              <a:t>  =IF(Age&lt;=18,"Teenager",IF(Age&lt;=40,"Adult","Senior"))</a:t>
            </a:r>
          </a:p>
          <a:p>
            <a:pPr marL="0" indent="0">
              <a:buNone/>
            </a:pPr>
            <a:endParaRPr lang="en-US" dirty="0">
              <a:latin typeface="Arial" panose="020B0604020202020204" pitchFamily="34" charset="0"/>
              <a:cs typeface="Arial" panose="020B0604020202020204" pitchFamily="34" charset="0"/>
            </a:endParaRPr>
          </a:p>
          <a:p>
            <a:pPr marL="0" indent="0">
              <a:buNone/>
            </a:pPr>
            <a:r>
              <a:rPr lang="en-IN" dirty="0">
                <a:latin typeface="Arial" panose="020B0604020202020204" pitchFamily="34" charset="0"/>
                <a:cs typeface="Arial" panose="020B0604020202020204" pitchFamily="34" charset="0"/>
              </a:rPr>
              <a:t>the </a:t>
            </a:r>
            <a:r>
              <a:rPr lang="en-IN" b="1" dirty="0">
                <a:latin typeface="Arial" panose="020B0604020202020204" pitchFamily="34" charset="0"/>
                <a:cs typeface="Arial" panose="020B0604020202020204" pitchFamily="34" charset="0"/>
              </a:rPr>
              <a:t>total sales amount:- =SUM(Amount)</a:t>
            </a:r>
          </a:p>
          <a:p>
            <a:pPr marL="0" indent="0">
              <a:buNone/>
            </a:pPr>
            <a:r>
              <a:rPr lang="en-US" dirty="0">
                <a:latin typeface="Arial" panose="020B0604020202020204" pitchFamily="34" charset="0"/>
                <a:cs typeface="Arial" panose="020B0604020202020204" pitchFamily="34" charset="0"/>
              </a:rPr>
              <a:t>Counts how many orders were placed by Female customers:-=COUNTIF(</a:t>
            </a:r>
            <a:r>
              <a:rPr lang="en-US" dirty="0" err="1">
                <a:latin typeface="Arial" panose="020B0604020202020204" pitchFamily="34" charset="0"/>
                <a:cs typeface="Arial" panose="020B0604020202020204" pitchFamily="34" charset="0"/>
              </a:rPr>
              <a:t>Gender,"Female</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31331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9031057-809C-6F49-E1AA-6D1AE7417CFB}"/>
              </a:ext>
            </a:extLst>
          </p:cNvPr>
          <p:cNvSpPr>
            <a:spLocks noGrp="1" noChangeArrowheads="1"/>
          </p:cNvSpPr>
          <p:nvPr>
            <p:ph type="title"/>
          </p:nvPr>
        </p:nvSpPr>
        <p:spPr bwMode="auto">
          <a:xfrm>
            <a:off x="742277" y="829144"/>
            <a:ext cx="8243888" cy="870688"/>
          </a:xfrm>
          <a:prstGeom prst="rect">
            <a:avLst/>
          </a:prstGeom>
          <a:solidFill>
            <a:schemeClr val="bg2">
              <a:lumMod val="50000"/>
            </a:schemeClr>
          </a:solidFill>
          <a:ln>
            <a:solidFill>
              <a:schemeClr val="accent1"/>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1800" b="1" dirty="0">
                <a:solidFill>
                  <a:schemeClr val="tx1">
                    <a:lumMod val="85000"/>
                    <a:lumOff val="15000"/>
                  </a:schemeClr>
                </a:solidFill>
              </a:rPr>
              <a:t>Key Insights / Findings</a:t>
            </a:r>
            <a:br>
              <a:rPr lang="en-US" sz="1800" b="1" dirty="0">
                <a:solidFill>
                  <a:schemeClr val="tx1">
                    <a:lumMod val="85000"/>
                    <a:lumOff val="15000"/>
                  </a:schemeClr>
                </a:solidFill>
              </a:rPr>
            </a:br>
            <a:endParaRPr lang="en-US" sz="1800" dirty="0">
              <a:solidFill>
                <a:schemeClr val="tx1">
                  <a:lumMod val="85000"/>
                  <a:lumOff val="15000"/>
                </a:schemeClr>
              </a:solidFill>
            </a:endParaRPr>
          </a:p>
        </p:txBody>
      </p:sp>
      <p:sp>
        <p:nvSpPr>
          <p:cNvPr id="6" name="Rectangle 3">
            <a:extLst>
              <a:ext uri="{FF2B5EF4-FFF2-40B4-BE49-F238E27FC236}">
                <a16:creationId xmlns:a16="http://schemas.microsoft.com/office/drawing/2014/main" id="{B9CB138E-96A2-553C-DB05-C9627CC2050F}"/>
              </a:ext>
            </a:extLst>
          </p:cNvPr>
          <p:cNvSpPr>
            <a:spLocks noChangeArrowheads="1"/>
          </p:cNvSpPr>
          <p:nvPr/>
        </p:nvSpPr>
        <p:spPr bwMode="auto">
          <a:xfrm>
            <a:off x="742277" y="2168246"/>
            <a:ext cx="8577569" cy="3330399"/>
          </a:xfrm>
          <a:prstGeom prst="rect">
            <a:avLst/>
          </a:prstGeom>
          <a:solidFill>
            <a:schemeClr val="bg2">
              <a:lumMod val="50000"/>
            </a:schemeClr>
          </a:solidFill>
          <a:ln w="9525">
            <a:solidFill>
              <a:srgbClr val="00B0F0"/>
            </a:solidFill>
            <a:miter lim="800000"/>
            <a:headEnd/>
            <a:tailEnd/>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The highest sales category is </a:t>
            </a:r>
            <a:r>
              <a:rPr kumimoji="0" lang="en-US" altLang="en-US" sz="1800" b="1" i="0" u="none" strike="noStrike" cap="none" normalizeH="0" baseline="0" dirty="0">
                <a:ln>
                  <a:noFill/>
                </a:ln>
                <a:solidFill>
                  <a:schemeClr val="tx1"/>
                </a:solidFill>
                <a:effectLst/>
                <a:latin typeface="Arial" panose="020B0604020202020204" pitchFamily="34" charset="0"/>
              </a:rPr>
              <a:t>Electronics and Apparel</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Most purchases are made by the </a:t>
            </a:r>
            <a:r>
              <a:rPr kumimoji="0" lang="en-US" altLang="en-US" sz="1800" b="1" i="0" u="none" strike="noStrike" cap="none" normalizeH="0" baseline="0" dirty="0">
                <a:ln>
                  <a:noFill/>
                </a:ln>
                <a:solidFill>
                  <a:schemeClr val="tx1"/>
                </a:solidFill>
                <a:effectLst/>
                <a:latin typeface="Arial" panose="020B0604020202020204" pitchFamily="34" charset="0"/>
              </a:rPr>
              <a:t>age group 25–40</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dirty="0">
                <a:latin typeface="Arial" panose="020B0604020202020204" pitchFamily="34" charset="0"/>
              </a:rPr>
              <a:t>T</a:t>
            </a:r>
            <a:r>
              <a:rPr kumimoji="0" lang="en-US" altLang="en-US" sz="1800" b="0" i="0" u="none" strike="noStrike" cap="none" normalizeH="0" baseline="0" dirty="0">
                <a:ln>
                  <a:noFill/>
                </a:ln>
                <a:solidFill>
                  <a:schemeClr val="tx1"/>
                </a:solidFill>
                <a:effectLst/>
                <a:latin typeface="Arial" panose="020B0604020202020204" pitchFamily="34" charset="0"/>
              </a:rPr>
              <a:t>op sales channel is </a:t>
            </a:r>
            <a:r>
              <a:rPr kumimoji="0" lang="en-US" altLang="en-US" sz="1800" b="1" i="0" u="none" strike="noStrike" cap="none" normalizeH="0" baseline="0" dirty="0">
                <a:ln>
                  <a:noFill/>
                </a:ln>
                <a:solidFill>
                  <a:schemeClr val="tx1"/>
                </a:solidFill>
                <a:effectLst/>
                <a:latin typeface="Arial" panose="020B0604020202020204" pitchFamily="34" charset="0"/>
              </a:rPr>
              <a:t>online platforms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Female customers</a:t>
            </a:r>
            <a:r>
              <a:rPr kumimoji="0" lang="en-US" altLang="en-US" sz="1800" b="0" i="0" u="none" strike="noStrike" cap="none" normalizeH="0" baseline="0" dirty="0">
                <a:ln>
                  <a:noFill/>
                </a:ln>
                <a:solidFill>
                  <a:schemeClr val="tx1"/>
                </a:solidFill>
                <a:effectLst/>
                <a:latin typeface="Arial" panose="020B0604020202020204" pitchFamily="34" charset="0"/>
              </a:rPr>
              <a:t> contribute more orders..</a:t>
            </a:r>
            <a:endParaRPr lang="en-US" altLang="en-US" dirty="0">
              <a:latin typeface="Arial" panose="020B0604020202020204" pitchFamily="34" charset="0"/>
            </a:endParaRPr>
          </a:p>
          <a:p>
            <a:pPr marL="342900" lvl="0" indent="-342900" defTabSz="914400" eaLnBrk="0" fontAlgn="base" hangingPunct="0">
              <a:lnSpc>
                <a:spcPct val="200000"/>
              </a:lnSpc>
              <a:spcBef>
                <a:spcPct val="0"/>
              </a:spcBef>
              <a:spcAft>
                <a:spcPct val="0"/>
              </a:spcAft>
              <a:buFont typeface="+mj-lt"/>
              <a:buAutoNum type="arabicPeriod"/>
            </a:pPr>
            <a:r>
              <a:rPr lang="en-US" altLang="en-US" dirty="0">
                <a:latin typeface="Arial" panose="020B0604020202020204" pitchFamily="34" charset="0"/>
              </a:rPr>
              <a:t>Sales peak in </a:t>
            </a:r>
            <a:r>
              <a:rPr lang="en-US" altLang="en-US" b="1" dirty="0">
                <a:latin typeface="Arial" panose="020B0604020202020204" pitchFamily="34" charset="0"/>
              </a:rPr>
              <a:t>November and December</a:t>
            </a:r>
            <a:r>
              <a:rPr lang="en-US" altLang="en-US" dirty="0">
                <a:latin typeface="Arial" panose="020B0604020202020204" pitchFamily="34" charset="0"/>
              </a:rPr>
              <a:t> due to festivals.</a:t>
            </a:r>
          </a:p>
          <a:p>
            <a:pPr marL="342900" lvl="0" indent="-342900" defTabSz="914400" eaLnBrk="0" fontAlgn="base" hangingPunct="0">
              <a:lnSpc>
                <a:spcPct val="200000"/>
              </a:lnSpc>
              <a:spcBef>
                <a:spcPct val="0"/>
              </a:spcBef>
              <a:spcAft>
                <a:spcPct val="0"/>
              </a:spcAft>
              <a:buFont typeface="+mj-lt"/>
              <a:buAutoNum type="arabicPeriod"/>
            </a:pPr>
            <a:r>
              <a:rPr lang="en-US" altLang="en-US" b="1" dirty="0">
                <a:latin typeface="Arial" panose="020B0604020202020204" pitchFamily="34" charset="0"/>
              </a:rPr>
              <a:t>Metro cities</a:t>
            </a:r>
            <a:r>
              <a:rPr lang="en-US" altLang="en-US" dirty="0">
                <a:latin typeface="Arial" panose="020B0604020202020204" pitchFamily="34" charset="0"/>
              </a:rPr>
              <a:t> like </a:t>
            </a:r>
            <a:r>
              <a:rPr lang="en-US" altLang="en-US" b="1" dirty="0">
                <a:latin typeface="Arial" panose="020B0604020202020204" pitchFamily="34" charset="0"/>
              </a:rPr>
              <a:t>Delhi</a:t>
            </a:r>
            <a:r>
              <a:rPr lang="en-US" altLang="en-US" dirty="0">
                <a:latin typeface="Arial" panose="020B0604020202020204" pitchFamily="34" charset="0"/>
              </a:rPr>
              <a:t> and </a:t>
            </a:r>
            <a:r>
              <a:rPr lang="en-US" altLang="en-US" b="1" dirty="0">
                <a:latin typeface="Arial" panose="020B0604020202020204" pitchFamily="34" charset="0"/>
              </a:rPr>
              <a:t>Mumbai</a:t>
            </a:r>
            <a:r>
              <a:rPr lang="en-US" altLang="en-US" dirty="0">
                <a:latin typeface="Arial" panose="020B0604020202020204" pitchFamily="34" charset="0"/>
              </a:rPr>
              <a:t> show the highest shipments.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2420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94EEE-0150-D199-E41D-DFA256E5ECF0}"/>
              </a:ext>
            </a:extLst>
          </p:cNvPr>
          <p:cNvSpPr>
            <a:spLocks noGrp="1"/>
          </p:cNvSpPr>
          <p:nvPr>
            <p:ph type="title"/>
          </p:nvPr>
        </p:nvSpPr>
        <p:spPr>
          <a:xfrm>
            <a:off x="525986" y="487006"/>
            <a:ext cx="11134165" cy="874334"/>
          </a:xfrm>
          <a:solidFill>
            <a:schemeClr val="bg2">
              <a:lumMod val="50000"/>
            </a:schemeClr>
          </a:solidFill>
          <a:ln>
            <a:solidFill>
              <a:srgbClr val="00B0F0"/>
            </a:solidFill>
          </a:ln>
        </p:spPr>
        <p:txBody>
          <a:bodyPr/>
          <a:lstStyle/>
          <a:p>
            <a:r>
              <a:rPr lang="en-US" sz="3600" b="1" u="sng" dirty="0">
                <a:solidFill>
                  <a:schemeClr val="tx1"/>
                </a:solidFill>
              </a:rPr>
              <a:t>Advantages and Disadvantages</a:t>
            </a:r>
            <a:endParaRPr lang="en-IN" sz="3600" b="1" u="sng" dirty="0">
              <a:solidFill>
                <a:schemeClr val="tx1"/>
              </a:solidFill>
            </a:endParaRPr>
          </a:p>
        </p:txBody>
      </p:sp>
      <p:sp>
        <p:nvSpPr>
          <p:cNvPr id="3" name="Content Placeholder 2">
            <a:extLst>
              <a:ext uri="{FF2B5EF4-FFF2-40B4-BE49-F238E27FC236}">
                <a16:creationId xmlns:a16="http://schemas.microsoft.com/office/drawing/2014/main" id="{C11CFD81-4ADC-1C03-54E2-E10358F71139}"/>
              </a:ext>
            </a:extLst>
          </p:cNvPr>
          <p:cNvSpPr>
            <a:spLocks noGrp="1"/>
          </p:cNvSpPr>
          <p:nvPr>
            <p:ph idx="1"/>
          </p:nvPr>
        </p:nvSpPr>
        <p:spPr>
          <a:xfrm>
            <a:off x="525986" y="1562582"/>
            <a:ext cx="11134165" cy="4808412"/>
          </a:xfrm>
          <a:solidFill>
            <a:schemeClr val="bg2">
              <a:lumMod val="50000"/>
            </a:schemeClr>
          </a:solidFill>
          <a:ln>
            <a:solidFill>
              <a:srgbClr val="00B0F0"/>
            </a:solidFill>
          </a:ln>
        </p:spPr>
        <p:txBody>
          <a:bodyPr numCol="2">
            <a:normAutofit/>
          </a:bodyPr>
          <a:lstStyle/>
          <a:p>
            <a:pPr marL="0" indent="0">
              <a:buNone/>
            </a:pPr>
            <a:r>
              <a:rPr lang="en-US" sz="1700" b="1" dirty="0">
                <a:solidFill>
                  <a:schemeClr val="tx1"/>
                </a:solidFill>
              </a:rPr>
              <a:t>Advantages:</a:t>
            </a:r>
          </a:p>
          <a:p>
            <a:r>
              <a:rPr lang="en-US" sz="1700" dirty="0">
                <a:solidFill>
                  <a:schemeClr val="tx1"/>
                </a:solidFill>
              </a:rPr>
              <a:t>Handles 31K+ rows efficiently with pivot tables</a:t>
            </a:r>
          </a:p>
          <a:p>
            <a:r>
              <a:rPr lang="en-US" sz="1700" dirty="0">
                <a:solidFill>
                  <a:schemeClr val="tx1"/>
                </a:solidFill>
              </a:rPr>
              <a:t>Easy filtering with slicers for better analysis</a:t>
            </a:r>
          </a:p>
          <a:p>
            <a:r>
              <a:rPr lang="en-US" sz="1700" dirty="0">
                <a:solidFill>
                  <a:schemeClr val="tx1"/>
                </a:solidFill>
              </a:rPr>
              <a:t>Visual charts help in understanding sales trends</a:t>
            </a:r>
          </a:p>
          <a:p>
            <a:r>
              <a:rPr lang="en-US" sz="1700" dirty="0">
                <a:solidFill>
                  <a:schemeClr val="tx1"/>
                </a:solidFill>
              </a:rPr>
              <a:t>Quick to build and update without coding</a:t>
            </a:r>
          </a:p>
          <a:p>
            <a:pPr marL="0" indent="0">
              <a:buNone/>
            </a:pPr>
            <a:endParaRPr lang="en-US" sz="1700" dirty="0">
              <a:solidFill>
                <a:schemeClr val="tx1"/>
              </a:solidFill>
            </a:endParaRPr>
          </a:p>
          <a:p>
            <a:pPr marL="0" indent="0">
              <a:buNone/>
            </a:pPr>
            <a:r>
              <a:rPr lang="en-US" sz="1700" b="1" dirty="0">
                <a:solidFill>
                  <a:schemeClr val="tx1"/>
                </a:solidFill>
              </a:rPr>
              <a:t>Disadvantages:</a:t>
            </a:r>
          </a:p>
          <a:p>
            <a:r>
              <a:rPr lang="en-US" sz="1700" dirty="0">
                <a:solidFill>
                  <a:schemeClr val="tx1"/>
                </a:solidFill>
              </a:rPr>
              <a:t>Large dataset may slow down Excel performance</a:t>
            </a:r>
          </a:p>
          <a:p>
            <a:r>
              <a:rPr lang="en-US" sz="1700" dirty="0">
                <a:solidFill>
                  <a:schemeClr val="tx1"/>
                </a:solidFill>
              </a:rPr>
              <a:t>Limited automation compared to BI tools</a:t>
            </a:r>
          </a:p>
          <a:p>
            <a:r>
              <a:rPr lang="en-US" sz="1700" dirty="0">
                <a:solidFill>
                  <a:schemeClr val="tx1"/>
                </a:solidFill>
              </a:rPr>
              <a:t>Difficult to manage real-time or live data</a:t>
            </a:r>
          </a:p>
          <a:p>
            <a:r>
              <a:rPr lang="en-US" sz="1700" dirty="0">
                <a:solidFill>
                  <a:schemeClr val="tx1"/>
                </a:solidFill>
              </a:rPr>
              <a:t>File sharing and collaboration less efficient</a:t>
            </a:r>
          </a:p>
          <a:p>
            <a:pPr marL="0" indent="0">
              <a:buNone/>
            </a:pPr>
            <a:endParaRPr lang="en-IN" dirty="0"/>
          </a:p>
        </p:txBody>
      </p:sp>
    </p:spTree>
    <p:extLst>
      <p:ext uri="{BB962C8B-B14F-4D97-AF65-F5344CB8AC3E}">
        <p14:creationId xmlns:p14="http://schemas.microsoft.com/office/powerpoint/2010/main" val="2669503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69ED-F224-EFE0-1205-AD54C41CE10C}"/>
              </a:ext>
            </a:extLst>
          </p:cNvPr>
          <p:cNvSpPr>
            <a:spLocks noGrp="1"/>
          </p:cNvSpPr>
          <p:nvPr>
            <p:ph type="title"/>
          </p:nvPr>
        </p:nvSpPr>
        <p:spPr>
          <a:xfrm>
            <a:off x="659749" y="545854"/>
            <a:ext cx="10471313" cy="5538423"/>
          </a:xfrm>
          <a:solidFill>
            <a:schemeClr val="bg2">
              <a:lumMod val="50000"/>
            </a:schemeClr>
          </a:solidFill>
          <a:ln>
            <a:solidFill>
              <a:srgbClr val="00B0F0"/>
            </a:solidFill>
          </a:ln>
        </p:spPr>
        <p:txBody>
          <a:bodyPr>
            <a:normAutofit fontScale="90000"/>
          </a:bodyPr>
          <a:lstStyle/>
          <a:p>
            <a:r>
              <a:rPr lang="en-US" sz="2800" b="1" dirty="0">
                <a:solidFill>
                  <a:schemeClr val="tx1">
                    <a:lumMod val="85000"/>
                    <a:lumOff val="15000"/>
                  </a:schemeClr>
                </a:solidFill>
              </a:rPr>
              <a:t>Conclusion</a:t>
            </a:r>
            <a:br>
              <a:rPr lang="en-US" sz="2800" b="1" dirty="0">
                <a:solidFill>
                  <a:schemeClr val="tx1">
                    <a:lumMod val="85000"/>
                    <a:lumOff val="15000"/>
                  </a:schemeClr>
                </a:solidFill>
              </a:rPr>
            </a:br>
            <a:br>
              <a:rPr lang="en-US" sz="2800" b="1" dirty="0">
                <a:solidFill>
                  <a:schemeClr val="tx1">
                    <a:lumMod val="85000"/>
                    <a:lumOff val="15000"/>
                  </a:schemeClr>
                </a:solidFill>
                <a:latin typeface="Arial" panose="020B0604020202020204" pitchFamily="34" charset="0"/>
                <a:cs typeface="Arial" panose="020B0604020202020204" pitchFamily="34" charset="0"/>
              </a:rPr>
            </a:br>
            <a:r>
              <a:rPr lang="en-US" sz="2000" dirty="0">
                <a:solidFill>
                  <a:schemeClr val="tx1">
                    <a:lumMod val="85000"/>
                    <a:lumOff val="15000"/>
                  </a:schemeClr>
                </a:solidFill>
                <a:latin typeface="Arial" panose="020B0604020202020204" pitchFamily="34" charset="0"/>
                <a:cs typeface="Arial" panose="020B0604020202020204" pitchFamily="34" charset="0"/>
              </a:rPr>
              <a:t>Overall, the </a:t>
            </a:r>
            <a:r>
              <a:rPr lang="en-US" sz="2000" b="1" dirty="0">
                <a:solidFill>
                  <a:schemeClr val="tx1">
                    <a:lumMod val="85000"/>
                    <a:lumOff val="15000"/>
                  </a:schemeClr>
                </a:solidFill>
                <a:latin typeface="Arial" panose="020B0604020202020204" pitchFamily="34" charset="0"/>
                <a:cs typeface="Arial" panose="020B0604020202020204" pitchFamily="34" charset="0"/>
              </a:rPr>
              <a:t>database</a:t>
            </a:r>
            <a:r>
              <a:rPr lang="en-US" sz="2000" dirty="0">
                <a:solidFill>
                  <a:schemeClr val="tx1">
                    <a:lumMod val="85000"/>
                    <a:lumOff val="15000"/>
                  </a:schemeClr>
                </a:solidFill>
                <a:latin typeface="Arial" panose="020B0604020202020204" pitchFamily="34" charset="0"/>
                <a:cs typeface="Arial" panose="020B0604020202020204" pitchFamily="34" charset="0"/>
              </a:rPr>
              <a:t> provides comprehensive order-related information, while the </a:t>
            </a:r>
            <a:r>
              <a:rPr lang="en-US" sz="2000" b="1" dirty="0">
                <a:solidFill>
                  <a:schemeClr val="tx1">
                    <a:lumMod val="85000"/>
                    <a:lumOff val="15000"/>
                  </a:schemeClr>
                </a:solidFill>
                <a:latin typeface="Arial" panose="020B0604020202020204" pitchFamily="34" charset="0"/>
                <a:cs typeface="Arial" panose="020B0604020202020204" pitchFamily="34" charset="0"/>
              </a:rPr>
              <a:t>dashboard</a:t>
            </a:r>
            <a:r>
              <a:rPr lang="en-US" sz="2000" dirty="0">
                <a:solidFill>
                  <a:schemeClr val="tx1">
                    <a:lumMod val="85000"/>
                    <a:lumOff val="15000"/>
                  </a:schemeClr>
                </a:solidFill>
                <a:latin typeface="Arial" panose="020B0604020202020204" pitchFamily="34" charset="0"/>
                <a:cs typeface="Arial" panose="020B0604020202020204" pitchFamily="34" charset="0"/>
              </a:rPr>
              <a:t> converts that raw dataset into clear and actionable insights. It enables decision-makers to quickly identify </a:t>
            </a:r>
            <a:r>
              <a:rPr lang="en-US" sz="2000" b="1" dirty="0">
                <a:solidFill>
                  <a:schemeClr val="tx1">
                    <a:lumMod val="85000"/>
                    <a:lumOff val="15000"/>
                  </a:schemeClr>
                </a:solidFill>
                <a:latin typeface="Arial" panose="020B0604020202020204" pitchFamily="34" charset="0"/>
                <a:cs typeface="Arial" panose="020B0604020202020204" pitchFamily="34" charset="0"/>
              </a:rPr>
              <a:t>sales patterns, customer preferences, regional demand, and business challenges</a:t>
            </a:r>
            <a:r>
              <a:rPr lang="en-US" sz="2000" dirty="0">
                <a:solidFill>
                  <a:schemeClr val="tx1">
                    <a:lumMod val="85000"/>
                    <a:lumOff val="15000"/>
                  </a:schemeClr>
                </a:solidFill>
                <a:latin typeface="Arial" panose="020B0604020202020204" pitchFamily="34" charset="0"/>
                <a:cs typeface="Arial" panose="020B0604020202020204" pitchFamily="34" charset="0"/>
              </a:rPr>
              <a:t>, thereby making the project highly effective and valuable.</a:t>
            </a:r>
            <a:br>
              <a:rPr lang="en-US" sz="2000" dirty="0">
                <a:solidFill>
                  <a:schemeClr val="tx1">
                    <a:lumMod val="85000"/>
                    <a:lumOff val="15000"/>
                  </a:schemeClr>
                </a:solidFill>
                <a:latin typeface="Arial" panose="020B0604020202020204" pitchFamily="34" charset="0"/>
                <a:cs typeface="Arial" panose="020B0604020202020204" pitchFamily="34" charset="0"/>
              </a:rPr>
            </a:br>
            <a:br>
              <a:rPr lang="en-US" sz="2000" dirty="0">
                <a:solidFill>
                  <a:schemeClr val="tx1">
                    <a:lumMod val="85000"/>
                    <a:lumOff val="15000"/>
                  </a:schemeClr>
                </a:solidFill>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Content:</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Strong performance in early months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Female customers dominate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Delivery success rate excellent</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Amazon and Flipkart are the strongest channels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Maharashtra leads in state-wise sales</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What to Speak:</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"Overall, 2025 has been a productive year with strong customer engagement and high delivery success."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"Female customers are our biggest contributors."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"Sales channels and states give us clear direction for future focus areas."</a:t>
            </a:r>
            <a:br>
              <a:rPr lang="en-US" sz="2000" dirty="0"/>
            </a:br>
            <a:endParaRPr lang="en-IN" sz="2000" dirty="0">
              <a:solidFill>
                <a:schemeClr val="tx1">
                  <a:lumMod val="85000"/>
                  <a:lumOff val="15000"/>
                </a:schemeClr>
              </a:solidFill>
            </a:endParaRPr>
          </a:p>
        </p:txBody>
      </p:sp>
    </p:spTree>
    <p:extLst>
      <p:ext uri="{BB962C8B-B14F-4D97-AF65-F5344CB8AC3E}">
        <p14:creationId xmlns:p14="http://schemas.microsoft.com/office/powerpoint/2010/main" val="3790513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DEBE8-5954-BFB8-6994-5E133BEEC62A}"/>
              </a:ext>
            </a:extLst>
          </p:cNvPr>
          <p:cNvSpPr>
            <a:spLocks noGrp="1"/>
          </p:cNvSpPr>
          <p:nvPr>
            <p:ph type="title"/>
          </p:nvPr>
        </p:nvSpPr>
        <p:spPr>
          <a:xfrm>
            <a:off x="1254391" y="1227575"/>
            <a:ext cx="10029825" cy="2986087"/>
          </a:xfrm>
          <a:solidFill>
            <a:schemeClr val="bg2"/>
          </a:solidFill>
          <a:ln>
            <a:solidFill>
              <a:schemeClr val="accent1">
                <a:lumMod val="75000"/>
              </a:schemeClr>
            </a:solidFill>
          </a:ln>
        </p:spPr>
        <p:style>
          <a:lnRef idx="1">
            <a:schemeClr val="accent3"/>
          </a:lnRef>
          <a:fillRef idx="2">
            <a:schemeClr val="accent3"/>
          </a:fillRef>
          <a:effectRef idx="1">
            <a:schemeClr val="accent3"/>
          </a:effectRef>
          <a:fontRef idx="minor">
            <a:schemeClr val="dk1"/>
          </a:fontRef>
        </p:style>
        <p:txBody>
          <a:bodyPr/>
          <a:lstStyle/>
          <a:p>
            <a:pPr algn="ctr"/>
            <a:br>
              <a:rPr lang="en-US" sz="6600" b="1" dirty="0">
                <a:ln w="9525">
                  <a:solidFill>
                    <a:schemeClr val="bg1"/>
                  </a:solidFill>
                  <a:prstDash val="solid"/>
                </a:ln>
                <a:solidFill>
                  <a:schemeClr val="tx1"/>
                </a:solidFill>
                <a:effectLst>
                  <a:outerShdw blurRad="12700" dist="38100" dir="2700000" algn="tl" rotWithShape="0">
                    <a:schemeClr val="bg1">
                      <a:lumMod val="50000"/>
                    </a:schemeClr>
                  </a:outerShdw>
                </a:effectLst>
              </a:rPr>
            </a:br>
            <a:r>
              <a:rPr lang="en-US" sz="6600" b="1"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endParaRPr lang="en-IN" sz="66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8038982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507</TotalTime>
  <Words>1199</Words>
  <Application>Microsoft Office PowerPoint</Application>
  <PresentationFormat>Widescreen</PresentationFormat>
  <Paragraphs>124</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Century Gothic</vt:lpstr>
      <vt:lpstr>Wingdings</vt:lpstr>
      <vt:lpstr>Wingdings 3</vt:lpstr>
      <vt:lpstr>Ion</vt:lpstr>
      <vt:lpstr>PowerPoint Presentation</vt:lpstr>
      <vt:lpstr>STORE DATA TABLE</vt:lpstr>
      <vt:lpstr>Overview </vt:lpstr>
      <vt:lpstr>Summary – Store Annual Report</vt:lpstr>
      <vt:lpstr>Orders vs Sales (Line + Bar Chart)</vt:lpstr>
      <vt:lpstr>Men vs Women (Pie Chart) </vt:lpstr>
      <vt:lpstr>Order Status (Pie Chart) </vt:lpstr>
      <vt:lpstr>Age vs Gender (Bar Chart </vt:lpstr>
      <vt:lpstr>Top 10 States (Horizontal Bar Chart)</vt:lpstr>
      <vt:lpstr>Orders by Channel (Pie Chart) </vt:lpstr>
      <vt:lpstr>States &amp; Amount (Geo Map</vt:lpstr>
      <vt:lpstr>PowerPoint Presentation</vt:lpstr>
      <vt:lpstr>Summary</vt:lpstr>
      <vt:lpstr>DASHBAORD</vt:lpstr>
      <vt:lpstr>Formulas:-</vt:lpstr>
      <vt:lpstr>Key Insights / Findings </vt:lpstr>
      <vt:lpstr>Advantages and Disadvantages</vt:lpstr>
      <vt:lpstr>Conclusion  Overall, the database provides comprehensive order-related information, while the dashboard converts that raw dataset into clear and actionable insights. It enables decision-makers to quickly identify sales patterns, customer preferences, regional demand, and business challenges, thereby making the project highly effective and valuable.  Content: Strong performance in early months Female customers dominate Delivery success rate excellent Amazon and Flipkart are the strongest channels Maharashtra leads in state-wise sales  What to Speak: "Overall, 2025 has been a productive year with strong customer engagement and high delivery success." "Female customers are our biggest contributors." "Sales channels and states give us clear direction for future focus areas."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Manjeet Gupta</dc:creator>
  <cp:lastModifiedBy>Manjeet Gupta</cp:lastModifiedBy>
  <cp:revision>6</cp:revision>
  <dcterms:created xsi:type="dcterms:W3CDTF">2025-09-12T07:24:08Z</dcterms:created>
  <dcterms:modified xsi:type="dcterms:W3CDTF">2025-11-21T05:26:47Z</dcterms:modified>
</cp:coreProperties>
</file>